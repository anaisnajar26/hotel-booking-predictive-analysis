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2" r:id="rId3"/>
    <p:sldId id="269" r:id="rId4"/>
    <p:sldId id="265" r:id="rId5"/>
    <p:sldId id="261" r:id="rId6"/>
    <p:sldId id="260" r:id="rId7"/>
    <p:sldId id="259" r:id="rId8"/>
    <p:sldId id="258" r:id="rId9"/>
    <p:sldId id="257" r:id="rId10"/>
    <p:sldId id="266" r:id="rId11"/>
    <p:sldId id="264" r:id="rId12"/>
    <p:sldId id="267" r:id="rId13"/>
    <p:sldId id="268" r:id="rId14"/>
    <p:sldId id="270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2F3E"/>
    <a:srgbClr val="F2F2F2"/>
    <a:srgbClr val="0E202C"/>
    <a:srgbClr val="777777"/>
    <a:srgbClr val="555555"/>
    <a:srgbClr val="333333"/>
    <a:srgbClr val="F8F9FA"/>
    <a:srgbClr val="F8FAFB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439"/>
    <p:restoredTop sz="96260"/>
  </p:normalViewPr>
  <p:slideViewPr>
    <p:cSldViewPr snapToGrid="0">
      <p:cViewPr varScale="1">
        <p:scale>
          <a:sx n="111" d="100"/>
          <a:sy n="111" d="100"/>
        </p:scale>
        <p:origin x="240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344C56-DCDC-6446-B63D-49A96042BD2E}" type="datetimeFigureOut">
              <a:rPr lang="es-ES" smtClean="0"/>
              <a:t>5/3/26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65E99-AAED-FC4E-A749-7D78CE3ABC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6132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93736A-6822-01BC-2486-1CB571AEE5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82498C-625E-7041-5A0E-1504ACB728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CB6D13-36E5-34E9-172D-15284DA7F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D06FB7-6E13-A800-DDD8-573D67DE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483A29-3814-B9CB-225D-18F57057B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8499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F734CB-028B-4F8E-98AE-0EB4E4C13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5C1ABC-9AE4-24CD-6B4E-F129386F9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BA7F8D-C333-48CD-8DBC-DD6891B27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F85831-4084-77B8-1E22-7050F15EF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B6C03C-73BF-0EBD-A7BB-1DE9BDDDF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8612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63F0D2-7A05-F67D-7A5E-A7A8DF0CF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6775F7-60E4-C511-5039-1B809367C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D0DACB-8889-8D82-2B2E-2016C3268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CE4CA4-4014-8BC4-68DB-6C397414E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8E0547-AFA6-DD6F-6A72-DF4679937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277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6EE7DD-A033-52E8-FCF3-16C120BEC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A038EE-DEFA-F207-9AF0-B470C3CA47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3B5F9C-0697-2A6F-99BE-CE852B801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832E2CF-F6C9-D2E5-12EA-430E86E43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2FDC84-F7D0-5C9F-CEB0-BCDE09804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3CE750-3D0D-5E19-B9DF-23EC0A543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149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F3439B-C12A-ED62-6B96-8FE7F3B30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5DC134-1FE1-EE12-CBCF-04A7FB6CF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D597759-14C0-E5AC-E18D-D068F93C4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008263E-10C3-E20A-5DC9-0BB3CFEE3D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FC5F822-CD3E-BD91-0647-BC94B8BCFE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0809EB1-D13E-C075-E2C6-23972763E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D803215-F800-D2BB-F603-EFE5DD9CF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C1D9A11-DA63-01E9-81BE-289D6AE00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7247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33ADD7-590A-BBF1-7482-2B56A8087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7A212F6-F7B2-4EC7-83E2-A6121B124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20466B7-4067-CAF5-A818-FB4A61D40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81695A1-C710-2B6F-B7FF-E958E7F38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575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2BA3AF8-BDE5-EECB-F79A-EE60D28E6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2BBD0F4-F1F9-4645-4358-BB17781CD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AEF3407-64A3-5843-A0D9-D0B2CC1B6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7918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B6C491-C77C-645C-CDFD-E78179F2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BA9460-84FD-565F-2969-1A5C03FB8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CD8372-9330-334B-67CC-158853A81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EF4C27-02AA-3083-8E5F-CF0CCF994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3879E80-676B-50EE-2936-625EF55B4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B914A4-42D5-D47D-B261-CDAA8C6CB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0737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37E717-BE23-007D-12D2-E80F6320E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6F3A6E4-CA69-5BFB-F173-186673A006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A2F1460-BA7A-38C2-45D8-9291582E5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703D35-B6FD-58C2-D6B5-C6558EDF8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670F7D-E9C4-3B41-0D32-74603C521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6EE289-3264-2E26-F1C4-382F8D94C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3225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718A40-D97C-E147-0ECA-E55C97C97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1FA357-7278-D52E-7C73-F238462D04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2DE9CB-872A-E13F-3C2E-74365A758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309E87-F0D1-4055-7527-155EC7674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670FD6-9367-1FC8-A89A-45BBEE6A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2087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AE8EF0B-D1D6-1275-AD8E-88E9392C8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C3DD467-407A-9041-C677-6DF77CB4B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21B375-2FF1-AA10-5799-A0D24594A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515E6F-DEB6-50C2-A9C0-2099AB4A6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FF1981-AD45-3CF1-BACC-7254BC64D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8288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EB2E139-ABD4-8A10-81D2-AF510B25D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7F43998-867F-F757-CD0D-70484B2C4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BAB669-3F4B-ED48-1226-CBF1AFA1EB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s-ES"/>
              <a:t>6/3/2026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9C10CE-0908-EBDC-1DCF-1CBC8C5B1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s-ES"/>
              <a:t>Fuente: Dataset Hotel Reservations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F29EA9-4851-556F-5CAF-DB29A6F2B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9467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DA9C8D46-54D8-4DF1-99A2-E651C7B13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DE12BF4D-F47A-41C1-85FC-652E412D3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AF055B3-1F95-4ABA-BFE4-A58320A82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5FBF53F-BBBA-4974-AD72-0E8CD294E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E07308-600E-DDFC-5531-18860F866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9379" y="233461"/>
            <a:ext cx="7430160" cy="2779619"/>
          </a:xfrm>
        </p:spPr>
        <p:txBody>
          <a:bodyPr anchor="b">
            <a:normAutofit/>
          </a:bodyPr>
          <a:lstStyle/>
          <a:p>
            <a:pPr algn="l"/>
            <a:r>
              <a:rPr lang="es-ES" sz="4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Análisis Estratégico de Cancelaciones Hoteleras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2C51AF-D8C4-F047-AF1D-5EA42907F60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329378" y="3072882"/>
            <a:ext cx="7208197" cy="12651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Identificación de riesgos y oportunidades de fidelización para reducir la tasa cancelación del 33%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A2875D7-3769-4291-959E-9FAD764A7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B1559B28-BE99-E57F-D5D2-BE79164F0264}"/>
              </a:ext>
            </a:extLst>
          </p:cNvPr>
          <p:cNvSpPr txBox="1"/>
          <p:nvPr/>
        </p:nvSpPr>
        <p:spPr>
          <a:xfrm>
            <a:off x="595728" y="5453270"/>
            <a:ext cx="28878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Anaís Nájar Martínez</a:t>
            </a:r>
          </a:p>
          <a:p>
            <a:pPr algn="ctr"/>
            <a:r>
              <a:rPr lang="es-E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Alberto López Alfaro</a:t>
            </a:r>
          </a:p>
          <a:p>
            <a:pPr algn="ctr"/>
            <a:r>
              <a:rPr lang="es-E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Gabriel Ferrández García 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4AB8E32C-3F0D-021A-7CC5-DC459679A683}"/>
              </a:ext>
            </a:extLst>
          </p:cNvPr>
          <p:cNvSpPr txBox="1"/>
          <p:nvPr/>
        </p:nvSpPr>
        <p:spPr>
          <a:xfrm>
            <a:off x="550360" y="4736091"/>
            <a:ext cx="28878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Marzo 2026</a:t>
            </a:r>
          </a:p>
        </p:txBody>
      </p:sp>
      <p:pic>
        <p:nvPicPr>
          <p:cNvPr id="70" name="Imagen 69" descr="Logotipo&#10;&#10;El contenido generado por IA puede ser incorrecto.">
            <a:extLst>
              <a:ext uri="{FF2B5EF4-FFF2-40B4-BE49-F238E27FC236}">
                <a16:creationId xmlns:a16="http://schemas.microsoft.com/office/drawing/2014/main" id="{3A2A7028-762E-6961-3A9C-05919A2A5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264" y="1104554"/>
            <a:ext cx="2056617" cy="2188828"/>
          </a:xfrm>
          <a:prstGeom prst="rect">
            <a:avLst/>
          </a:prstGeom>
        </p:spPr>
      </p:pic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03404BBF-7FEF-9A59-0CB1-846264B0A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5590" y="6463592"/>
            <a:ext cx="4114800" cy="365125"/>
          </a:xfrm>
        </p:spPr>
        <p:txBody>
          <a:bodyPr/>
          <a:lstStyle/>
          <a:p>
            <a:r>
              <a:rPr lang="es-E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Fuente: </a:t>
            </a:r>
            <a:r>
              <a:rPr lang="es-E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es-E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Hotel </a:t>
            </a:r>
            <a:r>
              <a:rPr lang="es-E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Reservations</a:t>
            </a:r>
            <a:endParaRPr lang="es-E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0B8ECB6-2A15-F88E-B57E-C4CBCF2147A8}"/>
              </a:ext>
            </a:extLst>
          </p:cNvPr>
          <p:cNvSpPr txBox="1"/>
          <p:nvPr/>
        </p:nvSpPr>
        <p:spPr>
          <a:xfrm>
            <a:off x="583659" y="6417245"/>
            <a:ext cx="28878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Grupo 11</a:t>
            </a:r>
          </a:p>
        </p:txBody>
      </p:sp>
    </p:spTree>
    <p:extLst>
      <p:ext uri="{BB962C8B-B14F-4D97-AF65-F5344CB8AC3E}">
        <p14:creationId xmlns:p14="http://schemas.microsoft.com/office/powerpoint/2010/main" val="2650733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8CCA9F-C5A2-8C8B-18E6-85F34A0D0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DEC9C7F-CD0B-ED17-A65C-05C99BC6D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AD8465-2B63-9FF6-AC9C-766820A8FC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B434A79-8999-6E78-9D7B-C77476434CE9}"/>
              </a:ext>
            </a:extLst>
          </p:cNvPr>
          <p:cNvSpPr/>
          <p:nvPr/>
        </p:nvSpPr>
        <p:spPr>
          <a:xfrm>
            <a:off x="-1" y="-18452"/>
            <a:ext cx="12191979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62EFC2-8FBA-7C18-9ED8-242EF088A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3925" y="498752"/>
            <a:ext cx="6844118" cy="722336"/>
          </a:xfrm>
        </p:spPr>
        <p:txBody>
          <a:bodyPr anchor="t">
            <a:noAutofit/>
          </a:bodyPr>
          <a:lstStyle/>
          <a:p>
            <a:pPr algn="ctr"/>
            <a:r>
              <a:rPr lang="es-E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Resumen Ejecutivo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6707E7-E085-2689-A5EC-E975C8C9F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105D1F1-7C51-9E93-18EE-DA4EE230B0D3}"/>
              </a:ext>
            </a:extLst>
          </p:cNvPr>
          <p:cNvSpPr/>
          <p:nvPr/>
        </p:nvSpPr>
        <p:spPr>
          <a:xfrm>
            <a:off x="905124" y="1863333"/>
            <a:ext cx="708917" cy="371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FFB78F5-0ADB-AC3D-7C65-07F42DA67248}"/>
              </a:ext>
            </a:extLst>
          </p:cNvPr>
          <p:cNvSpPr txBox="1"/>
          <p:nvPr/>
        </p:nvSpPr>
        <p:spPr>
          <a:xfrm>
            <a:off x="203923" y="1858435"/>
            <a:ext cx="1154176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800"/>
              </a:spcAft>
              <a:buFont typeface="Wingdings" pitchFamily="2" charset="2"/>
              <a:buChar char="v"/>
            </a:pP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Estos datos provienen de las reservas de un hotel, durante los años 2017-2018, donde distinguiremos entre precio medio de las habitaciones, tipo de reservas, peticiones especiales, antelación de las reservas y fidelidad de los clientes. El objetivo del análisis es identificar riesgos y oportunidades para reducir la tasa de cancelación global del 33%.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canal Online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presenta una inestabilidad crítica con un 36,5% de cancelaciones, mientras que el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canal </a:t>
            </a:r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Corporate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es más estable con solo un 10%.</a:t>
            </a:r>
          </a:p>
          <a:p>
            <a:endParaRPr lang="es-E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La antelación de la reserva penaliza la seguridad de los ingresos, disparando las cancelaciones a más del 60% en planificaciones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superiores a 4 meses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Wingdings" pitchFamily="2" charset="2"/>
              <a:buChar char="v"/>
            </a:pPr>
            <a:endParaRPr lang="es-E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La personalización del servicio fomenta el compromiso, ya que una sola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petición especial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reduce el riesgo a la mitad (23%) y tres o más peticiones anulan la cancelación por completo. </a:t>
            </a:r>
          </a:p>
          <a:p>
            <a:pPr marL="285750" indent="-285750" algn="just">
              <a:buFont typeface="Wingdings" pitchFamily="2" charset="2"/>
              <a:buChar char="v"/>
            </a:pPr>
            <a:endParaRPr lang="es-E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El aumento de las tarifas durante los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meses de verano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eleva el riesgo de fuga hasta un 45%, contrastando con meses de temporada baja como enero (2%).</a:t>
            </a:r>
          </a:p>
          <a:p>
            <a:pPr marL="285750" indent="-285750" algn="just">
              <a:buFont typeface="Wingdings" pitchFamily="2" charset="2"/>
              <a:buChar char="v"/>
            </a:pPr>
            <a:endParaRPr lang="es-E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1800"/>
              </a:spcAft>
              <a:buFont typeface="Wingdings" pitchFamily="2" charset="2"/>
              <a:buChar char="v"/>
            </a:pP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La fidelización asegura el éxito comercial, logrando una tasa de abandono prácticamente nula en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clientes repetidores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frente al 33% que presentan los nuevos clientes.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Por último, para próximos proyectos vamos a hacer uso de IA predictiva para predecir el perfil de clientes que queremos para poder reducir lo máximo posible la tasa de cancelación. </a:t>
            </a:r>
          </a:p>
        </p:txBody>
      </p:sp>
      <p:sp>
        <p:nvSpPr>
          <p:cNvPr id="23" name="Marcador de número de diapositiva 22">
            <a:extLst>
              <a:ext uri="{FF2B5EF4-FFF2-40B4-BE49-F238E27FC236}">
                <a16:creationId xmlns:a16="http://schemas.microsoft.com/office/drawing/2014/main" id="{CEB688FC-4AB9-8166-971E-867D565B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Marcador de pie de página 23">
            <a:extLst>
              <a:ext uri="{FF2B5EF4-FFF2-40B4-BE49-F238E27FC236}">
                <a16:creationId xmlns:a16="http://schemas.microsoft.com/office/drawing/2014/main" id="{42A273D1-0F00-88BA-11C7-3124A7053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84" y="6480128"/>
            <a:ext cx="4114800" cy="365125"/>
          </a:xfrm>
        </p:spPr>
        <p:txBody>
          <a:bodyPr/>
          <a:lstStyle/>
          <a:p>
            <a:r>
              <a:rPr lang="es-ES" sz="1000" dirty="0">
                <a:latin typeface="Arial" panose="020B0604020202020204" pitchFamily="34" charset="0"/>
                <a:cs typeface="Arial" panose="020B0604020202020204" pitchFamily="34" charset="0"/>
              </a:rPr>
              <a:t>Fuente: </a:t>
            </a:r>
            <a:r>
              <a:rPr lang="es-ES" sz="1000" dirty="0" err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es-ES" sz="1000" dirty="0">
                <a:latin typeface="Arial" panose="020B0604020202020204" pitchFamily="34" charset="0"/>
                <a:cs typeface="Arial" panose="020B0604020202020204" pitchFamily="34" charset="0"/>
              </a:rPr>
              <a:t> Hotel </a:t>
            </a:r>
            <a:r>
              <a:rPr lang="es-ES" sz="1000" dirty="0" err="1">
                <a:latin typeface="Arial" panose="020B0604020202020204" pitchFamily="34" charset="0"/>
                <a:cs typeface="Arial" panose="020B0604020202020204" pitchFamily="34" charset="0"/>
              </a:rPr>
              <a:t>Reservations</a:t>
            </a:r>
            <a:endParaRPr lang="es-E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4472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BBB434-4D01-B4D5-2884-53FCE30AC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35AB3A8-FB97-DD77-C12C-557118BA2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E775A7-2905-0695-51D4-9CA7D2650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2A77107-97DA-7358-2116-9B84206A4984}"/>
              </a:ext>
            </a:extLst>
          </p:cNvPr>
          <p:cNvSpPr/>
          <p:nvPr/>
        </p:nvSpPr>
        <p:spPr>
          <a:xfrm>
            <a:off x="-1" y="-18452"/>
            <a:ext cx="12191979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8096634-AC28-7975-0489-06B87D8D4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3925" y="498752"/>
            <a:ext cx="6844118" cy="722336"/>
          </a:xfrm>
        </p:spPr>
        <p:txBody>
          <a:bodyPr anchor="t">
            <a:noAutofit/>
          </a:bodyPr>
          <a:lstStyle/>
          <a:p>
            <a:pPr algn="ctr"/>
            <a:r>
              <a:rPr lang="es-E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32ED48-64ED-2657-862B-CDD848F2E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A0E8D0F-CF42-8063-1273-072A15A94987}"/>
              </a:ext>
            </a:extLst>
          </p:cNvPr>
          <p:cNvSpPr/>
          <p:nvPr/>
        </p:nvSpPr>
        <p:spPr>
          <a:xfrm>
            <a:off x="905124" y="1863333"/>
            <a:ext cx="708917" cy="371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Marcador de número de diapositiva 22">
            <a:extLst>
              <a:ext uri="{FF2B5EF4-FFF2-40B4-BE49-F238E27FC236}">
                <a16:creationId xmlns:a16="http://schemas.microsoft.com/office/drawing/2014/main" id="{737AF778-F945-909C-CA6E-AAC2B9BB4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Marcador de pie de página 23">
            <a:extLst>
              <a:ext uri="{FF2B5EF4-FFF2-40B4-BE49-F238E27FC236}">
                <a16:creationId xmlns:a16="http://schemas.microsoft.com/office/drawing/2014/main" id="{A1ACB668-E328-1EFF-2A6C-EAD46CA8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84" y="6480128"/>
            <a:ext cx="4114800" cy="365125"/>
          </a:xfrm>
        </p:spPr>
        <p:txBody>
          <a:bodyPr/>
          <a:lstStyle/>
          <a:p>
            <a:r>
              <a:rPr lang="es-ES" sz="1000" dirty="0">
                <a:latin typeface="Arial" panose="020B0604020202020204" pitchFamily="34" charset="0"/>
                <a:cs typeface="Arial" panose="020B0604020202020204" pitchFamily="34" charset="0"/>
              </a:rPr>
              <a:t>Fuente: </a:t>
            </a:r>
            <a:r>
              <a:rPr lang="es-ES" sz="1000" dirty="0" err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es-ES" sz="1000" dirty="0">
                <a:latin typeface="Arial" panose="020B0604020202020204" pitchFamily="34" charset="0"/>
                <a:cs typeface="Arial" panose="020B0604020202020204" pitchFamily="34" charset="0"/>
              </a:rPr>
              <a:t> Hotel </a:t>
            </a:r>
            <a:r>
              <a:rPr lang="es-ES" sz="1000" dirty="0" err="1">
                <a:latin typeface="Arial" panose="020B0604020202020204" pitchFamily="34" charset="0"/>
                <a:cs typeface="Arial" panose="020B0604020202020204" pitchFamily="34" charset="0"/>
              </a:rPr>
              <a:t>Reservations</a:t>
            </a:r>
            <a:endParaRPr lang="es-E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F4A031B-F820-8344-AE33-123492340A87}"/>
              </a:ext>
            </a:extLst>
          </p:cNvPr>
          <p:cNvSpPr txBox="1"/>
          <p:nvPr/>
        </p:nvSpPr>
        <p:spPr>
          <a:xfrm>
            <a:off x="325104" y="2103246"/>
            <a:ext cx="11541760" cy="3462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s-ES" sz="1600" u="sng" dirty="0">
                <a:latin typeface="Arial" panose="020B0604020202020204" pitchFamily="34" charset="0"/>
                <a:cs typeface="Arial" panose="020B0604020202020204" pitchFamily="34" charset="0"/>
              </a:rPr>
              <a:t>Análisis por Canal de Reserva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: Comparativa de reservas Online, Offline y </a:t>
            </a:r>
            <a:r>
              <a:rPr lang="es-ES" sz="1600" dirty="0" err="1">
                <a:latin typeface="Arial" panose="020B0604020202020204" pitchFamily="34" charset="0"/>
                <a:cs typeface="Arial" panose="020B0604020202020204" pitchFamily="34" charset="0"/>
              </a:rPr>
              <a:t>Corporate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s-ES" sz="1600" u="sng" dirty="0">
                <a:latin typeface="Arial" panose="020B0604020202020204" pitchFamily="34" charset="0"/>
                <a:cs typeface="Arial" panose="020B0604020202020204" pitchFamily="34" charset="0"/>
              </a:rPr>
              <a:t>El valor de la Personalización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: Reducción del riesgo mediante peticiones especiales.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s-ES" sz="1600" u="sng" dirty="0">
                <a:latin typeface="Arial" panose="020B0604020202020204" pitchFamily="34" charset="0"/>
                <a:cs typeface="Arial" panose="020B0604020202020204" pitchFamily="34" charset="0"/>
              </a:rPr>
              <a:t>Estacionalidad y Tarifas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: Análisis del precio medio de las habitaciones y de la tasa de cancelación por mes. 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s-ES" sz="1600" u="sng" dirty="0">
                <a:latin typeface="Arial" panose="020B0604020202020204" pitchFamily="34" charset="0"/>
                <a:cs typeface="Arial" panose="020B0604020202020204" pitchFamily="34" charset="0"/>
              </a:rPr>
              <a:t>Retención y Fidelización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: Comparativa de abandono entre clientes nuevos y repetidores. 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s-ES" sz="1600" u="sng" dirty="0">
                <a:latin typeface="Arial" panose="020B0604020202020204" pitchFamily="34" charset="0"/>
                <a:cs typeface="Arial" panose="020B0604020202020204" pitchFamily="34" charset="0"/>
              </a:rPr>
              <a:t>Impacto de la Antelación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: Relación entre el tiempo de reserva y el riesgo de cancelación.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s-ES" sz="1600" u="sng" dirty="0">
                <a:latin typeface="Arial" panose="020B0604020202020204" pitchFamily="34" charset="0"/>
                <a:cs typeface="Arial" panose="020B0604020202020204" pitchFamily="34" charset="0"/>
              </a:rPr>
              <a:t>Conclusiones y Recomendaciones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: Acciones clave para reducir el 33% de cancelaciones.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s-ES" sz="1600" u="sng" dirty="0">
                <a:latin typeface="Arial" panose="020B0604020202020204" pitchFamily="34" charset="0"/>
                <a:cs typeface="Arial" panose="020B0604020202020204" pitchFamily="34" charset="0"/>
              </a:rPr>
              <a:t>Próximos Pasos: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Iniciativas a implementar. </a:t>
            </a:r>
          </a:p>
        </p:txBody>
      </p:sp>
    </p:spTree>
    <p:extLst>
      <p:ext uri="{BB962C8B-B14F-4D97-AF65-F5344CB8AC3E}">
        <p14:creationId xmlns:p14="http://schemas.microsoft.com/office/powerpoint/2010/main" val="3130808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77A49842-C479-366B-37DA-A9C8FA1E2822}"/>
              </a:ext>
            </a:extLst>
          </p:cNvPr>
          <p:cNvSpPr txBox="1"/>
          <p:nvPr/>
        </p:nvSpPr>
        <p:spPr>
          <a:xfrm>
            <a:off x="2027488" y="2921168"/>
            <a:ext cx="81370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1-5. Análisis de datos 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7BA374F-D841-6513-442C-DB2C800BB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s-E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E9DD617-C876-88AE-6E42-6AFEB1D48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492875"/>
            <a:ext cx="4114800" cy="365125"/>
          </a:xfrm>
        </p:spPr>
        <p:txBody>
          <a:bodyPr/>
          <a:lstStyle/>
          <a:p>
            <a:r>
              <a:rPr lang="es-E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Fuente: </a:t>
            </a:r>
            <a:r>
              <a:rPr lang="es-E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es-E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Hotel </a:t>
            </a:r>
            <a:r>
              <a:rPr lang="es-E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Reservations</a:t>
            </a:r>
            <a:endParaRPr lang="es-E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894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E58F3F-1968-5E87-268D-EB8AF901E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18D8E5F-07C8-9BA7-94C6-A4F789BE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11F498-485E-ACE1-715A-E9267157C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4B6FF46-989A-0B6F-AC6E-C131BD52B940}"/>
              </a:ext>
            </a:extLst>
          </p:cNvPr>
          <p:cNvSpPr/>
          <p:nvPr/>
        </p:nvSpPr>
        <p:spPr>
          <a:xfrm>
            <a:off x="-10" y="12747"/>
            <a:ext cx="12191989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33D9156-8CA2-7FB3-9AB8-C4D518D1D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087" y="300081"/>
            <a:ext cx="11249794" cy="1131493"/>
          </a:xfrm>
        </p:spPr>
        <p:txBody>
          <a:bodyPr anchor="t">
            <a:noAutofit/>
          </a:bodyPr>
          <a:lstStyle/>
          <a:p>
            <a:pPr algn="ctr"/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grueso de las reservas proviene de la vía Online, asumiendo a su vez la mayor tasa de cancelación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6FF653-412D-BE60-CFC2-6AA8B206F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4DDFB81-3439-E5E7-DA39-1A8D83BCAAC7}"/>
              </a:ext>
            </a:extLst>
          </p:cNvPr>
          <p:cNvSpPr txBox="1"/>
          <p:nvPr/>
        </p:nvSpPr>
        <p:spPr>
          <a:xfrm>
            <a:off x="8564598" y="2276719"/>
            <a:ext cx="36145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El segmento de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reservas Online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 domina ampliamente el volumen de captación, pero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presenta la mayor inestabilidad comercial del hotel acumulando un crítico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36,5% de cancelaciones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A89CAF1-EF84-2691-4661-77CF59A303BD}"/>
              </a:ext>
            </a:extLst>
          </p:cNvPr>
          <p:cNvSpPr/>
          <p:nvPr/>
        </p:nvSpPr>
        <p:spPr>
          <a:xfrm>
            <a:off x="905124" y="1863333"/>
            <a:ext cx="708917" cy="371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95F54C9-59F4-7CC3-55D4-C8AEEDAA48C9}"/>
              </a:ext>
            </a:extLst>
          </p:cNvPr>
          <p:cNvSpPr txBox="1"/>
          <p:nvPr/>
        </p:nvSpPr>
        <p:spPr>
          <a:xfrm>
            <a:off x="8563309" y="5050274"/>
            <a:ext cx="36171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La tasa de cancelación en empresas de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desploma hasta el 11%,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evidenciando que este tipo de cliente apenas altera su planificación.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BE332E9-2181-A4C1-777C-EC0152F18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AA414DD-AADD-F002-4AAA-0BFC1EEE5F4E}"/>
              </a:ext>
            </a:extLst>
          </p:cNvPr>
          <p:cNvSpPr txBox="1"/>
          <p:nvPr/>
        </p:nvSpPr>
        <p:spPr>
          <a:xfrm>
            <a:off x="8592731" y="3878940"/>
            <a:ext cx="35711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canal Offline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 representa un volumen intermedio y modera ligeramente el riesgo de abandono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hasta un 30%.</a:t>
            </a:r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40BFD4B0-3004-76B5-0F41-FF2EC1E2D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84" y="6461790"/>
            <a:ext cx="4114800" cy="365125"/>
          </a:xfrm>
        </p:spPr>
        <p:txBody>
          <a:bodyPr/>
          <a:lstStyle/>
          <a:p>
            <a:r>
              <a:rPr lang="es-ES" sz="1000" dirty="0">
                <a:latin typeface="Arial" panose="020B0604020202020204" pitchFamily="34" charset="0"/>
                <a:cs typeface="Arial" panose="020B0604020202020204" pitchFamily="34" charset="0"/>
              </a:rPr>
              <a:t>Fuente: </a:t>
            </a:r>
            <a:r>
              <a:rPr lang="es-ES" sz="1000" dirty="0" err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es-ES" sz="1000" dirty="0">
                <a:latin typeface="Arial" panose="020B0604020202020204" pitchFamily="34" charset="0"/>
                <a:cs typeface="Arial" panose="020B0604020202020204" pitchFamily="34" charset="0"/>
              </a:rPr>
              <a:t> Hotel </a:t>
            </a:r>
            <a:r>
              <a:rPr lang="es-ES" sz="1000" dirty="0" err="1">
                <a:latin typeface="Arial" panose="020B0604020202020204" pitchFamily="34" charset="0"/>
                <a:cs typeface="Arial" panose="020B0604020202020204" pitchFamily="34" charset="0"/>
              </a:rPr>
              <a:t>Reservations</a:t>
            </a:r>
            <a:endParaRPr lang="es-E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Imagen 18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07E837E2-9C7A-B764-B079-9A87ECEB39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158"/>
          <a:stretch>
            <a:fillRect/>
          </a:stretch>
        </p:blipFill>
        <p:spPr>
          <a:xfrm>
            <a:off x="87458" y="2084697"/>
            <a:ext cx="3053166" cy="4033493"/>
          </a:xfrm>
          <a:prstGeom prst="rect">
            <a:avLst/>
          </a:prstGeom>
        </p:spPr>
      </p:pic>
      <p:pic>
        <p:nvPicPr>
          <p:cNvPr id="10" name="Marcador de contenido 9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2D60E381-B90B-2312-B5A4-90CFD2DF96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-24" t="5107" r="24" b="-3116"/>
          <a:stretch>
            <a:fillRect/>
          </a:stretch>
        </p:blipFill>
        <p:spPr>
          <a:xfrm>
            <a:off x="3126582" y="2655965"/>
            <a:ext cx="5421347" cy="289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118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129497-F323-F245-7D2F-447A73623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0C35E29-A459-CC0E-54FA-876AB7799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044433-FFB8-A56D-7296-28B21D92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1F6371C-0232-B0DC-CA46-006089C50A62}"/>
              </a:ext>
            </a:extLst>
          </p:cNvPr>
          <p:cNvSpPr/>
          <p:nvPr/>
        </p:nvSpPr>
        <p:spPr>
          <a:xfrm>
            <a:off x="-10" y="12747"/>
            <a:ext cx="12191989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C792843-A655-F460-0829-891FFA683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856" y="269259"/>
            <a:ext cx="11702255" cy="1465357"/>
          </a:xfrm>
        </p:spPr>
        <p:txBody>
          <a:bodyPr anchor="t">
            <a:noAutofit/>
          </a:bodyPr>
          <a:lstStyle/>
          <a:p>
            <a:pPr algn="ctr"/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personalización blinda la reserva, realizar una única petición reduce a la mitad la tasa de cancelación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444549-E166-3326-8109-B1B2CA7A1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DD6AEA1-259B-9A31-1E0F-D19D252F5903}"/>
              </a:ext>
            </a:extLst>
          </p:cNvPr>
          <p:cNvSpPr/>
          <p:nvPr/>
        </p:nvSpPr>
        <p:spPr>
          <a:xfrm>
            <a:off x="905124" y="1863333"/>
            <a:ext cx="708917" cy="371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89E6B66-EDF5-3C9E-AA54-5B0260CA787D}"/>
              </a:ext>
            </a:extLst>
          </p:cNvPr>
          <p:cNvSpPr txBox="1"/>
          <p:nvPr/>
        </p:nvSpPr>
        <p:spPr>
          <a:xfrm>
            <a:off x="658097" y="4838189"/>
            <a:ext cx="41148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Las reservas de alta interacción, que registran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3 o más peticiones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, alcanzan la lealtad absoluta al presentar una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tasa de cancelación nula.</a:t>
            </a:r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3284E44-EA46-3F5D-04C6-C97163CE5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66B4E57-6044-4963-EC0F-79347EA4846E}"/>
              </a:ext>
            </a:extLst>
          </p:cNvPr>
          <p:cNvSpPr txBox="1"/>
          <p:nvPr/>
        </p:nvSpPr>
        <p:spPr>
          <a:xfrm>
            <a:off x="658097" y="2516299"/>
            <a:ext cx="41148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Fomentar que el cliente realice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tan solo una petición especial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reduce el riesgo de abandono drásticamente, pasando del 43% al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23%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1AD55F3-CDE7-F96A-9B33-AC9A7296C013}"/>
              </a:ext>
            </a:extLst>
          </p:cNvPr>
          <p:cNvSpPr txBox="1"/>
          <p:nvPr/>
        </p:nvSpPr>
        <p:spPr>
          <a:xfrm>
            <a:off x="658097" y="3609851"/>
            <a:ext cx="4114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 A medida que aumenta el nivel de personalización de la reserva,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el compromiso del cliente se consolida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 de forma progresiva. </a:t>
            </a:r>
          </a:p>
        </p:txBody>
      </p:sp>
      <p:sp>
        <p:nvSpPr>
          <p:cNvPr id="15" name="Marcador de pie de página 14">
            <a:extLst>
              <a:ext uri="{FF2B5EF4-FFF2-40B4-BE49-F238E27FC236}">
                <a16:creationId xmlns:a16="http://schemas.microsoft.com/office/drawing/2014/main" id="{246A76AD-42AA-B2E1-3263-336BD2B6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83" y="6481024"/>
            <a:ext cx="4114800" cy="365125"/>
          </a:xfrm>
        </p:spPr>
        <p:txBody>
          <a:bodyPr/>
          <a:lstStyle/>
          <a:p>
            <a:r>
              <a:rPr lang="es-ES" sz="1000" dirty="0">
                <a:latin typeface="Arial" panose="020B0604020202020204" pitchFamily="34" charset="0"/>
                <a:cs typeface="Arial" panose="020B0604020202020204" pitchFamily="34" charset="0"/>
              </a:rPr>
              <a:t>Fuente: </a:t>
            </a:r>
            <a:r>
              <a:rPr lang="es-ES" sz="1000" dirty="0" err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es-ES" sz="1000" dirty="0">
                <a:latin typeface="Arial" panose="020B0604020202020204" pitchFamily="34" charset="0"/>
                <a:cs typeface="Arial" panose="020B0604020202020204" pitchFamily="34" charset="0"/>
              </a:rPr>
              <a:t> Hotel </a:t>
            </a:r>
            <a:r>
              <a:rPr lang="es-ES" sz="1000" dirty="0" err="1">
                <a:latin typeface="Arial" panose="020B0604020202020204" pitchFamily="34" charset="0"/>
                <a:cs typeface="Arial" panose="020B0604020202020204" pitchFamily="34" charset="0"/>
              </a:rPr>
              <a:t>Reservations</a:t>
            </a:r>
            <a:endParaRPr lang="es-E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Marcador de contenido 16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C2991668-2700-3300-E8E3-CE1A91D5F8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812"/>
          <a:stretch>
            <a:fillRect/>
          </a:stretch>
        </p:blipFill>
        <p:spPr>
          <a:xfrm>
            <a:off x="5358475" y="2146345"/>
            <a:ext cx="5995325" cy="3856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070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11AB22-C1A7-A8DE-4A25-27125202D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8244616-A0BD-578B-0AF2-EACCEB03A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C3EFBF-701F-5923-A2BF-86474457B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5052D80-130E-8EF0-9E22-BA149CE13444}"/>
              </a:ext>
            </a:extLst>
          </p:cNvPr>
          <p:cNvSpPr/>
          <p:nvPr/>
        </p:nvSpPr>
        <p:spPr>
          <a:xfrm>
            <a:off x="-10" y="12747"/>
            <a:ext cx="12191989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85157D7-41BC-8CAC-2320-9C236E0D7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47" y="355591"/>
            <a:ext cx="12178768" cy="1008658"/>
          </a:xfrm>
        </p:spPr>
        <p:txBody>
          <a:bodyPr anchor="t">
            <a:noAutofit/>
          </a:bodyPr>
          <a:lstStyle/>
          <a:p>
            <a:pPr algn="ctr"/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aumento de las tarifas impacta directamente en la cancelación de reservas, llegando hasta un 45% en verano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6683E1-2F10-A0AA-868D-62DB1D4070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91C58FE-888B-ECB4-7B0A-95E205DB222F}"/>
              </a:ext>
            </a:extLst>
          </p:cNvPr>
          <p:cNvSpPr txBox="1"/>
          <p:nvPr/>
        </p:nvSpPr>
        <p:spPr>
          <a:xfrm>
            <a:off x="151132" y="4958766"/>
            <a:ext cx="4114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Por el contrario, los picos de tarifa del verano concentran el mayor riesgo, llegando a perder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el 45% de las reservas en el mes de julio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endParaRPr lang="es-ES" dirty="0"/>
          </a:p>
        </p:txBody>
      </p:sp>
      <p:pic>
        <p:nvPicPr>
          <p:cNvPr id="7" name="Marcador de contenido 6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25A6F43B-6A87-705A-4CB9-0EAD3B8234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37540" y="2033617"/>
            <a:ext cx="7503328" cy="4366545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93F5BE67-1FCF-99E2-F8FC-BE2A4720E004}"/>
              </a:ext>
            </a:extLst>
          </p:cNvPr>
          <p:cNvSpPr/>
          <p:nvPr/>
        </p:nvSpPr>
        <p:spPr>
          <a:xfrm>
            <a:off x="905124" y="1863333"/>
            <a:ext cx="708917" cy="371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EE1D5EA-E753-07A6-5E85-BB52EE35B6C4}"/>
              </a:ext>
            </a:extLst>
          </p:cNvPr>
          <p:cNvSpPr txBox="1"/>
          <p:nvPr/>
        </p:nvSpPr>
        <p:spPr>
          <a:xfrm>
            <a:off x="271618" y="2296635"/>
            <a:ext cx="41148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Se observa una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fuerte relación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 entre las subidas de precio de la habitación y el incremento del riesgo de abandono de la reserva. </a:t>
            </a:r>
          </a:p>
          <a:p>
            <a:endParaRPr lang="es-ES" dirty="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DE570B94-E90E-6085-9B98-5174FE5CE58B}"/>
              </a:ext>
            </a:extLst>
          </p:cNvPr>
          <p:cNvSpPr/>
          <p:nvPr/>
        </p:nvSpPr>
        <p:spPr>
          <a:xfrm>
            <a:off x="5593818" y="6098762"/>
            <a:ext cx="274320" cy="2308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6BE95A6B-AE20-6B7E-BEF2-2A32726B4A71}"/>
              </a:ext>
            </a:extLst>
          </p:cNvPr>
          <p:cNvSpPr/>
          <p:nvPr/>
        </p:nvSpPr>
        <p:spPr>
          <a:xfrm>
            <a:off x="6718675" y="6098763"/>
            <a:ext cx="274320" cy="2308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070C9F70-2D15-E3E7-B0AD-E8DFEABF1530}"/>
              </a:ext>
            </a:extLst>
          </p:cNvPr>
          <p:cNvSpPr/>
          <p:nvPr/>
        </p:nvSpPr>
        <p:spPr>
          <a:xfrm>
            <a:off x="7824515" y="6098763"/>
            <a:ext cx="274320" cy="1411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CE5FB794-F192-BF74-17C4-59523E8469FE}"/>
              </a:ext>
            </a:extLst>
          </p:cNvPr>
          <p:cNvSpPr/>
          <p:nvPr/>
        </p:nvSpPr>
        <p:spPr>
          <a:xfrm>
            <a:off x="8986989" y="6098763"/>
            <a:ext cx="274320" cy="2308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26271D49-5FBE-05A0-CB31-1AD6670858A4}"/>
              </a:ext>
            </a:extLst>
          </p:cNvPr>
          <p:cNvSpPr/>
          <p:nvPr/>
        </p:nvSpPr>
        <p:spPr>
          <a:xfrm>
            <a:off x="10062284" y="6104626"/>
            <a:ext cx="274320" cy="2308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CF2A4E9E-A6E2-4ADF-ED46-E1DBACFBA0F4}"/>
              </a:ext>
            </a:extLst>
          </p:cNvPr>
          <p:cNvSpPr/>
          <p:nvPr/>
        </p:nvSpPr>
        <p:spPr>
          <a:xfrm>
            <a:off x="11236704" y="6114578"/>
            <a:ext cx="274320" cy="2308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aphicFrame>
        <p:nvGraphicFramePr>
          <p:cNvPr id="32" name="Tabla 31">
            <a:extLst>
              <a:ext uri="{FF2B5EF4-FFF2-40B4-BE49-F238E27FC236}">
                <a16:creationId xmlns:a16="http://schemas.microsoft.com/office/drawing/2014/main" id="{06423F86-09B3-8AC3-F3C6-DAB230B1F4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389833"/>
              </p:ext>
            </p:extLst>
          </p:nvPr>
        </p:nvGraphicFramePr>
        <p:xfrm>
          <a:off x="4830538" y="5886728"/>
          <a:ext cx="6917331" cy="513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765">
                  <a:extLst>
                    <a:ext uri="{9D8B030D-6E8A-4147-A177-3AD203B41FA5}">
                      <a16:colId xmlns:a16="http://schemas.microsoft.com/office/drawing/2014/main" val="2046128458"/>
                    </a:ext>
                  </a:extLst>
                </a:gridCol>
                <a:gridCol w="585116">
                  <a:extLst>
                    <a:ext uri="{9D8B030D-6E8A-4147-A177-3AD203B41FA5}">
                      <a16:colId xmlns:a16="http://schemas.microsoft.com/office/drawing/2014/main" val="1700741946"/>
                    </a:ext>
                  </a:extLst>
                </a:gridCol>
                <a:gridCol w="544078">
                  <a:extLst>
                    <a:ext uri="{9D8B030D-6E8A-4147-A177-3AD203B41FA5}">
                      <a16:colId xmlns:a16="http://schemas.microsoft.com/office/drawing/2014/main" val="2118306218"/>
                    </a:ext>
                  </a:extLst>
                </a:gridCol>
                <a:gridCol w="577388">
                  <a:extLst>
                    <a:ext uri="{9D8B030D-6E8A-4147-A177-3AD203B41FA5}">
                      <a16:colId xmlns:a16="http://schemas.microsoft.com/office/drawing/2014/main" val="1468554205"/>
                    </a:ext>
                  </a:extLst>
                </a:gridCol>
                <a:gridCol w="544078">
                  <a:extLst>
                    <a:ext uri="{9D8B030D-6E8A-4147-A177-3AD203B41FA5}">
                      <a16:colId xmlns:a16="http://schemas.microsoft.com/office/drawing/2014/main" val="2463296796"/>
                    </a:ext>
                  </a:extLst>
                </a:gridCol>
                <a:gridCol w="566285">
                  <a:extLst>
                    <a:ext uri="{9D8B030D-6E8A-4147-A177-3AD203B41FA5}">
                      <a16:colId xmlns:a16="http://schemas.microsoft.com/office/drawing/2014/main" val="1215798916"/>
                    </a:ext>
                  </a:extLst>
                </a:gridCol>
                <a:gridCol w="566285">
                  <a:extLst>
                    <a:ext uri="{9D8B030D-6E8A-4147-A177-3AD203B41FA5}">
                      <a16:colId xmlns:a16="http://schemas.microsoft.com/office/drawing/2014/main" val="3997453808"/>
                    </a:ext>
                  </a:extLst>
                </a:gridCol>
                <a:gridCol w="566286">
                  <a:extLst>
                    <a:ext uri="{9D8B030D-6E8A-4147-A177-3AD203B41FA5}">
                      <a16:colId xmlns:a16="http://schemas.microsoft.com/office/drawing/2014/main" val="2785633728"/>
                    </a:ext>
                  </a:extLst>
                </a:gridCol>
                <a:gridCol w="596883">
                  <a:extLst>
                    <a:ext uri="{9D8B030D-6E8A-4147-A177-3AD203B41FA5}">
                      <a16:colId xmlns:a16="http://schemas.microsoft.com/office/drawing/2014/main" val="559435244"/>
                    </a:ext>
                  </a:extLst>
                </a:gridCol>
                <a:gridCol w="524584">
                  <a:extLst>
                    <a:ext uri="{9D8B030D-6E8A-4147-A177-3AD203B41FA5}">
                      <a16:colId xmlns:a16="http://schemas.microsoft.com/office/drawing/2014/main" val="193292934"/>
                    </a:ext>
                  </a:extLst>
                </a:gridCol>
                <a:gridCol w="566285">
                  <a:extLst>
                    <a:ext uri="{9D8B030D-6E8A-4147-A177-3AD203B41FA5}">
                      <a16:colId xmlns:a16="http://schemas.microsoft.com/office/drawing/2014/main" val="1120844864"/>
                    </a:ext>
                  </a:extLst>
                </a:gridCol>
                <a:gridCol w="699298">
                  <a:extLst>
                    <a:ext uri="{9D8B030D-6E8A-4147-A177-3AD203B41FA5}">
                      <a16:colId xmlns:a16="http://schemas.microsoft.com/office/drawing/2014/main" val="4189823036"/>
                    </a:ext>
                  </a:extLst>
                </a:gridCol>
              </a:tblGrid>
              <a:tr h="513434">
                <a:tc>
                  <a:txBody>
                    <a:bodyPr/>
                    <a:lstStyle/>
                    <a:p>
                      <a:pPr algn="ctr"/>
                      <a:r>
                        <a:rPr lang="es-ES" sz="900" b="0" dirty="0">
                          <a:solidFill>
                            <a:schemeClr val="tx1"/>
                          </a:solidFill>
                        </a:rPr>
                        <a:t>Enero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b="0" dirty="0">
                          <a:solidFill>
                            <a:schemeClr val="tx1"/>
                          </a:solidFill>
                        </a:rPr>
                        <a:t>Febrero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b="0" dirty="0">
                          <a:solidFill>
                            <a:schemeClr val="tx1"/>
                          </a:solidFill>
                        </a:rPr>
                        <a:t>Marzo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b="0" dirty="0">
                          <a:solidFill>
                            <a:schemeClr val="tx1"/>
                          </a:solidFill>
                        </a:rPr>
                        <a:t>Abril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b="0" dirty="0">
                          <a:solidFill>
                            <a:schemeClr val="tx1"/>
                          </a:solidFill>
                        </a:rPr>
                        <a:t>Mayo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b="0" dirty="0">
                          <a:solidFill>
                            <a:schemeClr val="tx1"/>
                          </a:solidFill>
                        </a:rPr>
                        <a:t>Junio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b="0" dirty="0">
                          <a:solidFill>
                            <a:schemeClr val="tx1"/>
                          </a:solidFill>
                        </a:rPr>
                        <a:t>Julio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b="0" dirty="0">
                          <a:solidFill>
                            <a:schemeClr val="tx1"/>
                          </a:solidFill>
                        </a:rPr>
                        <a:t>Agosto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b="0" dirty="0">
                          <a:solidFill>
                            <a:schemeClr val="tx1"/>
                          </a:solidFill>
                        </a:rPr>
                        <a:t>Septiembre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b="0" dirty="0">
                          <a:solidFill>
                            <a:schemeClr val="tx1"/>
                          </a:solidFill>
                        </a:rPr>
                        <a:t>Octubre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b="0" dirty="0">
                          <a:solidFill>
                            <a:schemeClr val="tx1"/>
                          </a:solidFill>
                        </a:rPr>
                        <a:t>Noviembre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b="0" dirty="0">
                          <a:solidFill>
                            <a:schemeClr val="tx1"/>
                          </a:solidFill>
                        </a:rPr>
                        <a:t>Diciembre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526031"/>
                  </a:ext>
                </a:extLst>
              </a:tr>
            </a:tbl>
          </a:graphicData>
        </a:graphic>
      </p:graphicFrame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23221F1-3E0E-C09F-C8C0-F887D0651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CAE341E-66D8-CEBC-3DC7-9C4E49005F8F}"/>
              </a:ext>
            </a:extLst>
          </p:cNvPr>
          <p:cNvSpPr txBox="1"/>
          <p:nvPr/>
        </p:nvSpPr>
        <p:spPr>
          <a:xfrm>
            <a:off x="211370" y="3591182"/>
            <a:ext cx="4114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En los meses de temporada baja y tarifas contenidas, como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enero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, la tasa de cancelación es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casi inexistente (apenas un 2%).</a:t>
            </a:r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AB68950A-39D8-7D2E-8AA6-D739D2C10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1731" y="6483300"/>
            <a:ext cx="4114800" cy="365125"/>
          </a:xfrm>
        </p:spPr>
        <p:txBody>
          <a:bodyPr/>
          <a:lstStyle/>
          <a:p>
            <a:r>
              <a:rPr lang="es-ES" sz="1000" dirty="0">
                <a:latin typeface="Arial" panose="020B0604020202020204" pitchFamily="34" charset="0"/>
                <a:cs typeface="Arial" panose="020B0604020202020204" pitchFamily="34" charset="0"/>
              </a:rPr>
              <a:t>Fuente: </a:t>
            </a:r>
            <a:r>
              <a:rPr lang="es-ES" sz="1000" dirty="0" err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es-ES" sz="1000" dirty="0">
                <a:latin typeface="Arial" panose="020B0604020202020204" pitchFamily="34" charset="0"/>
                <a:cs typeface="Arial" panose="020B0604020202020204" pitchFamily="34" charset="0"/>
              </a:rPr>
              <a:t> Hotel </a:t>
            </a:r>
            <a:r>
              <a:rPr lang="es-ES" sz="1000" dirty="0" err="1">
                <a:latin typeface="Arial" panose="020B0604020202020204" pitchFamily="34" charset="0"/>
                <a:cs typeface="Arial" panose="020B0604020202020204" pitchFamily="34" charset="0"/>
              </a:rPr>
              <a:t>Reservations</a:t>
            </a:r>
            <a:endParaRPr lang="es-E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653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B25E1A-7582-E014-97CE-A589C5EED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ADDA769-1578-3437-16E3-6E82760E5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ECF247-5121-8612-A604-28EEE7FF9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6B242D2-A977-CCFA-DE33-B0F254A906CA}"/>
              </a:ext>
            </a:extLst>
          </p:cNvPr>
          <p:cNvSpPr/>
          <p:nvPr/>
        </p:nvSpPr>
        <p:spPr>
          <a:xfrm>
            <a:off x="-10" y="0"/>
            <a:ext cx="12191989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F2AFB3-2A66-CC7D-8F01-B9FFB389C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1" y="363064"/>
            <a:ext cx="12191990" cy="1405857"/>
          </a:xfrm>
        </p:spPr>
        <p:txBody>
          <a:bodyPr anchor="t">
            <a:normAutofit/>
          </a:bodyPr>
          <a:lstStyle/>
          <a:p>
            <a:pPr algn="ctr"/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diferencia de los nuevos, los clientes repetidores reflejan una tasa de cancelación prácticamente nula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D2E71-31FF-9B6C-4ABB-49AE34357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B92E607-1365-03CF-A10B-8DE4ED4232AC}"/>
              </a:ext>
            </a:extLst>
          </p:cNvPr>
          <p:cNvSpPr txBox="1"/>
          <p:nvPr/>
        </p:nvSpPr>
        <p:spPr>
          <a:xfrm>
            <a:off x="6095964" y="2284760"/>
            <a:ext cx="41917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El esfuerzo comercial invertido en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nuevos clientes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 sufre un alto nivel de abandono, perdiendo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1 de cada 3 reservas (33%).</a:t>
            </a:r>
            <a:endParaRPr lang="es-E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7485F98-66B0-3E39-957D-49C23E3B7992}"/>
              </a:ext>
            </a:extLst>
          </p:cNvPr>
          <p:cNvSpPr txBox="1"/>
          <p:nvPr/>
        </p:nvSpPr>
        <p:spPr>
          <a:xfrm>
            <a:off x="6095964" y="4806124"/>
            <a:ext cx="41148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Esta retención reduce la cancelación a un porcentaje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prácticamente nulo (&lt;2%).</a:t>
            </a:r>
            <a:endParaRPr lang="es-E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89F3ED0-1D03-1DBC-9CDE-3D2E077BF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128261-8914-5FB5-8FF4-22DA31644A37}"/>
              </a:ext>
            </a:extLst>
          </p:cNvPr>
          <p:cNvSpPr txBox="1"/>
          <p:nvPr/>
        </p:nvSpPr>
        <p:spPr>
          <a:xfrm>
            <a:off x="6057501" y="3539263"/>
            <a:ext cx="41917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En contraste, el segmento de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clientes repetidores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demuestra una lealtad que asegura los ingresos esperados. 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14B1182-3742-B4BA-E2D7-C829B0C6A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64" y="6493906"/>
            <a:ext cx="4114800" cy="365125"/>
          </a:xfrm>
        </p:spPr>
        <p:txBody>
          <a:bodyPr/>
          <a:lstStyle/>
          <a:p>
            <a:r>
              <a:rPr lang="es-ES" sz="1000" dirty="0">
                <a:latin typeface="Arial" panose="020B0604020202020204" pitchFamily="34" charset="0"/>
                <a:cs typeface="Arial" panose="020B0604020202020204" pitchFamily="34" charset="0"/>
              </a:rPr>
              <a:t>Fuente: </a:t>
            </a:r>
            <a:r>
              <a:rPr lang="es-ES" sz="1000" dirty="0" err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es-ES" sz="1000" dirty="0">
                <a:latin typeface="Arial" panose="020B0604020202020204" pitchFamily="34" charset="0"/>
                <a:cs typeface="Arial" panose="020B0604020202020204" pitchFamily="34" charset="0"/>
              </a:rPr>
              <a:t> Hotel </a:t>
            </a:r>
            <a:r>
              <a:rPr lang="es-ES" sz="1000" dirty="0" err="1">
                <a:latin typeface="Arial" panose="020B0604020202020204" pitchFamily="34" charset="0"/>
                <a:cs typeface="Arial" panose="020B0604020202020204" pitchFamily="34" charset="0"/>
              </a:rPr>
              <a:t>Reservations</a:t>
            </a:r>
            <a:endParaRPr lang="es-E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Marcador de contenido 14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DCA238A4-D0CF-EB36-C96C-2A5C8B07AD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999"/>
          <a:stretch>
            <a:fillRect/>
          </a:stretch>
        </p:blipFill>
        <p:spPr>
          <a:xfrm>
            <a:off x="1156851" y="1919310"/>
            <a:ext cx="3745594" cy="4582875"/>
          </a:xfrm>
          <a:prstGeom prst="rect">
            <a:avLst/>
          </a:prstGeom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801EDEC6-23F2-82DB-EB1A-BC914988A94E}"/>
              </a:ext>
            </a:extLst>
          </p:cNvPr>
          <p:cNvCxnSpPr>
            <a:cxnSpLocks/>
          </p:cNvCxnSpPr>
          <p:nvPr/>
        </p:nvCxnSpPr>
        <p:spPr>
          <a:xfrm>
            <a:off x="3636818" y="6137401"/>
            <a:ext cx="5056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F8D2B6FD-BA03-AC20-3B01-3B7C068ADD60}"/>
              </a:ext>
            </a:extLst>
          </p:cNvPr>
          <p:cNvSpPr txBox="1"/>
          <p:nvPr/>
        </p:nvSpPr>
        <p:spPr>
          <a:xfrm>
            <a:off x="3525913" y="5860402"/>
            <a:ext cx="12331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1,72 %</a:t>
            </a:r>
          </a:p>
        </p:txBody>
      </p:sp>
    </p:spTree>
    <p:extLst>
      <p:ext uri="{BB962C8B-B14F-4D97-AF65-F5344CB8AC3E}">
        <p14:creationId xmlns:p14="http://schemas.microsoft.com/office/powerpoint/2010/main" val="2236932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BA0CEC5-78DF-6B0A-9CB9-98684638062D}"/>
              </a:ext>
            </a:extLst>
          </p:cNvPr>
          <p:cNvSpPr/>
          <p:nvPr/>
        </p:nvSpPr>
        <p:spPr>
          <a:xfrm>
            <a:off x="-10" y="0"/>
            <a:ext cx="12191989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Marcador de contenido 8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F0B25F0F-FCAC-EA84-7337-EE9E0CD4CA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6729" y="1838137"/>
            <a:ext cx="5577839" cy="4699138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149E1193-77C7-A5BD-C527-916BA96BEFE9}"/>
              </a:ext>
            </a:extLst>
          </p:cNvPr>
          <p:cNvSpPr/>
          <p:nvPr/>
        </p:nvSpPr>
        <p:spPr>
          <a:xfrm>
            <a:off x="1151794" y="5133958"/>
            <a:ext cx="879025" cy="1113420"/>
          </a:xfrm>
          <a:prstGeom prst="rect">
            <a:avLst/>
          </a:prstGeom>
          <a:noFill/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AD88C20-6079-6679-37B6-DFA2B5A880C9}"/>
              </a:ext>
            </a:extLst>
          </p:cNvPr>
          <p:cNvSpPr/>
          <p:nvPr/>
        </p:nvSpPr>
        <p:spPr>
          <a:xfrm>
            <a:off x="3438115" y="2505670"/>
            <a:ext cx="2657885" cy="374170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E0E6815-E6D3-A442-698F-B236D27312C2}"/>
              </a:ext>
            </a:extLst>
          </p:cNvPr>
          <p:cNvSpPr txBox="1"/>
          <p:nvPr/>
        </p:nvSpPr>
        <p:spPr>
          <a:xfrm>
            <a:off x="6931297" y="2690336"/>
            <a:ext cx="41917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El riesgo de cancelación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aumenta proporcionalmente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 con la antelación de la reserva.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853E38E-00A5-E724-6707-ECCF663B0700}"/>
              </a:ext>
            </a:extLst>
          </p:cNvPr>
          <p:cNvSpPr txBox="1"/>
          <p:nvPr/>
        </p:nvSpPr>
        <p:spPr>
          <a:xfrm>
            <a:off x="6981781" y="3734876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Las reservas más fiables son las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menores a 25 días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, con un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14% de cancelación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36E0093-A703-4AE8-8D81-8AFD8F74F2D3}"/>
              </a:ext>
            </a:extLst>
          </p:cNvPr>
          <p:cNvSpPr txBox="1"/>
          <p:nvPr/>
        </p:nvSpPr>
        <p:spPr>
          <a:xfrm>
            <a:off x="6981781" y="4563973"/>
            <a:ext cx="41917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Las reservas planificadas con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más de 4 meses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de antelación , se dispara cerca del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60% de cancelación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s-ES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A9B3B42-E894-F586-4B16-3C6F79143C84}"/>
              </a:ext>
            </a:extLst>
          </p:cNvPr>
          <p:cNvSpPr txBox="1"/>
          <p:nvPr/>
        </p:nvSpPr>
        <p:spPr>
          <a:xfrm>
            <a:off x="11551920" y="40030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869CD5-CD78-05B2-E23B-B21021044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B65A3C-7C4C-B8AC-FB9D-434712DDD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84" y="6470675"/>
            <a:ext cx="4114800" cy="365125"/>
          </a:xfrm>
        </p:spPr>
        <p:txBody>
          <a:bodyPr/>
          <a:lstStyle/>
          <a:p>
            <a:r>
              <a:rPr lang="es-ES" sz="1000" dirty="0">
                <a:latin typeface="Arial" panose="020B0604020202020204" pitchFamily="34" charset="0"/>
                <a:cs typeface="Arial" panose="020B0604020202020204" pitchFamily="34" charset="0"/>
              </a:rPr>
              <a:t>Fuente: </a:t>
            </a:r>
            <a:r>
              <a:rPr lang="es-ES" sz="1000" dirty="0" err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es-ES" sz="1000" dirty="0">
                <a:latin typeface="Arial" panose="020B0604020202020204" pitchFamily="34" charset="0"/>
                <a:cs typeface="Arial" panose="020B0604020202020204" pitchFamily="34" charset="0"/>
              </a:rPr>
              <a:t> Hotel </a:t>
            </a:r>
            <a:r>
              <a:rPr lang="es-ES" sz="1000" dirty="0" err="1">
                <a:latin typeface="Arial" panose="020B0604020202020204" pitchFamily="34" charset="0"/>
                <a:cs typeface="Arial" panose="020B0604020202020204" pitchFamily="34" charset="0"/>
              </a:rPr>
              <a:t>Reservations</a:t>
            </a:r>
            <a:endParaRPr lang="es-E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9678905-98F8-B962-91C6-24553DB923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084" y="312898"/>
            <a:ext cx="121158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Las reservas con más de 120 días de antelación disparan la tasa de cancelación por encima del 60%</a:t>
            </a:r>
          </a:p>
        </p:txBody>
      </p:sp>
    </p:spTree>
    <p:extLst>
      <p:ext uri="{BB962C8B-B14F-4D97-AF65-F5344CB8AC3E}">
        <p14:creationId xmlns:p14="http://schemas.microsoft.com/office/powerpoint/2010/main" val="2229972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F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80F975-FFDC-FD52-CF56-03F2C0C97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2366BE8B-C1B4-7882-F419-B1217434D30B}"/>
              </a:ext>
            </a:extLst>
          </p:cNvPr>
          <p:cNvSpPr txBox="1"/>
          <p:nvPr/>
        </p:nvSpPr>
        <p:spPr>
          <a:xfrm>
            <a:off x="3094629" y="2459504"/>
            <a:ext cx="71364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Conclusiones y recomendaciones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0FC92CC-0294-688B-A6CA-7C641FBC8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s-E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308C856-6DC0-3621-F866-9FA86EDEA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1410"/>
            <a:ext cx="4114800" cy="365125"/>
          </a:xfrm>
        </p:spPr>
        <p:txBody>
          <a:bodyPr/>
          <a:lstStyle/>
          <a:p>
            <a:r>
              <a:rPr lang="es-E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Fuente: </a:t>
            </a:r>
            <a:r>
              <a:rPr lang="es-E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es-E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Hotel </a:t>
            </a:r>
            <a:r>
              <a:rPr lang="es-E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Reservations</a:t>
            </a:r>
            <a:endParaRPr lang="es-E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592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053704-19EF-418D-252E-32178888D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C58EAE5-24B1-4F32-8EA7-DDD302F17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C84756-8717-AFE2-7862-9B9DC7018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8676D49-8BF7-CB38-2F56-C0B34A173570}"/>
              </a:ext>
            </a:extLst>
          </p:cNvPr>
          <p:cNvSpPr/>
          <p:nvPr/>
        </p:nvSpPr>
        <p:spPr>
          <a:xfrm>
            <a:off x="-10" y="17680"/>
            <a:ext cx="12191989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52F094-B349-330A-964C-161345665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" y="349565"/>
            <a:ext cx="12191989" cy="987565"/>
          </a:xfrm>
        </p:spPr>
        <p:txBody>
          <a:bodyPr anchor="t">
            <a:noAutofit/>
          </a:bodyPr>
          <a:lstStyle/>
          <a:p>
            <a:pPr algn="ctr"/>
            <a:r>
              <a:rPr lang="es-ES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Fomentar la fidelización y la personalización junto con políticas protectoras, reducirá drásticamente las cancelaciones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EB6E9F-AD72-832F-24E6-64DEE2CD2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9A167A7-EEC1-1DFC-A110-3B5ABB2A57F1}"/>
              </a:ext>
            </a:extLst>
          </p:cNvPr>
          <p:cNvSpPr/>
          <p:nvPr/>
        </p:nvSpPr>
        <p:spPr>
          <a:xfrm>
            <a:off x="905124" y="1863333"/>
            <a:ext cx="708917" cy="371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96A0DDF-FF08-0B6B-BFDE-40413B0D8EB0}"/>
              </a:ext>
            </a:extLst>
          </p:cNvPr>
          <p:cNvSpPr txBox="1"/>
          <p:nvPr/>
        </p:nvSpPr>
        <p:spPr>
          <a:xfrm>
            <a:off x="702014" y="2562120"/>
            <a:ext cx="7579392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Priorizar canales seguros: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Debemos centrar los esfuerzos comerciales en la retención de </a:t>
            </a:r>
            <a:r>
              <a:rPr lang="es-ES" sz="1600" u="sng" dirty="0">
                <a:latin typeface="Arial" panose="020B0604020202020204" pitchFamily="34" charset="0"/>
                <a:cs typeface="Arial" panose="020B0604020202020204" pitchFamily="34" charset="0"/>
              </a:rPr>
              <a:t>clientes repetidores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, así como también incrementar las reservas por parte de empresas.</a:t>
            </a:r>
          </a:p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Incentivar la interacción: 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Es vital fomentar que el cliente realice </a:t>
            </a:r>
            <a:r>
              <a:rPr lang="es-ES" sz="1600" u="sng" dirty="0">
                <a:latin typeface="Arial" panose="020B0604020202020204" pitchFamily="34" charset="0"/>
                <a:cs typeface="Arial" panose="020B0604020202020204" pitchFamily="34" charset="0"/>
              </a:rPr>
              <a:t>peticiones especiales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durante su reserva; lograr tan solo una petición reduce el riesgo de abandono a casi la mitad.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Proteger las reservas de riesgo: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Se recomienda implementar </a:t>
            </a:r>
            <a:r>
              <a:rPr lang="es-ES" sz="1600" u="sng" dirty="0">
                <a:latin typeface="Arial" panose="020B0604020202020204" pitchFamily="34" charset="0"/>
                <a:cs typeface="Arial" panose="020B0604020202020204" pitchFamily="34" charset="0"/>
              </a:rPr>
              <a:t>políticas de cancelación más estrictas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o requerir depósitos para aquellas reservas planificadas con más de 4 meses de antelación. </a:t>
            </a:r>
            <a:endParaRPr lang="es-E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ráfico 3" descr="Maletín con relleno sólido">
            <a:extLst>
              <a:ext uri="{FF2B5EF4-FFF2-40B4-BE49-F238E27FC236}">
                <a16:creationId xmlns:a16="http://schemas.microsoft.com/office/drawing/2014/main" id="{5F7FA552-68E4-7362-4C3B-8D11E4972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83419" y="2278572"/>
            <a:ext cx="991721" cy="991721"/>
          </a:xfrm>
          <a:prstGeom prst="rect">
            <a:avLst/>
          </a:prstGeom>
        </p:spPr>
      </p:pic>
      <p:pic>
        <p:nvPicPr>
          <p:cNvPr id="6" name="Gráfico 5" descr="Bocadillo de pensamiento con relleno sólido">
            <a:extLst>
              <a:ext uri="{FF2B5EF4-FFF2-40B4-BE49-F238E27FC236}">
                <a16:creationId xmlns:a16="http://schemas.microsoft.com/office/drawing/2014/main" id="{775FE1B0-8054-7554-F296-8D55CEF664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60740" y="3541897"/>
            <a:ext cx="914400" cy="914400"/>
          </a:xfrm>
          <a:prstGeom prst="rect">
            <a:avLst/>
          </a:prstGeom>
        </p:spPr>
      </p:pic>
      <p:pic>
        <p:nvPicPr>
          <p:cNvPr id="10" name="Gráfico 9" descr="Calendario mensual con relleno sólido">
            <a:extLst>
              <a:ext uri="{FF2B5EF4-FFF2-40B4-BE49-F238E27FC236}">
                <a16:creationId xmlns:a16="http://schemas.microsoft.com/office/drawing/2014/main" id="{B973B874-3D1A-82EE-BA24-CA8B4E2CD4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60740" y="4606470"/>
            <a:ext cx="914400" cy="914400"/>
          </a:xfrm>
          <a:prstGeom prst="rect">
            <a:avLst/>
          </a:prstGeom>
        </p:spPr>
      </p:pic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9ADBA15D-5EE7-B472-1A9A-D2217F3C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Marcador de pie de página 14">
            <a:extLst>
              <a:ext uri="{FF2B5EF4-FFF2-40B4-BE49-F238E27FC236}">
                <a16:creationId xmlns:a16="http://schemas.microsoft.com/office/drawing/2014/main" id="{0AB024CC-0B26-951C-B18D-5BA0284A3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63" y="6475195"/>
            <a:ext cx="4114800" cy="365125"/>
          </a:xfrm>
        </p:spPr>
        <p:txBody>
          <a:bodyPr/>
          <a:lstStyle/>
          <a:p>
            <a:r>
              <a:rPr lang="es-ES" sz="1000" dirty="0">
                <a:latin typeface="Arial" panose="020B0604020202020204" pitchFamily="34" charset="0"/>
                <a:cs typeface="Arial" panose="020B0604020202020204" pitchFamily="34" charset="0"/>
              </a:rPr>
              <a:t>Fuente: </a:t>
            </a:r>
            <a:r>
              <a:rPr lang="es-ES" sz="1000" dirty="0" err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es-ES" sz="1000" dirty="0">
                <a:latin typeface="Arial" panose="020B0604020202020204" pitchFamily="34" charset="0"/>
                <a:cs typeface="Arial" panose="020B0604020202020204" pitchFamily="34" charset="0"/>
              </a:rPr>
              <a:t> Hotel </a:t>
            </a:r>
            <a:r>
              <a:rPr lang="es-ES" sz="1000" dirty="0" err="1">
                <a:latin typeface="Arial" panose="020B0604020202020204" pitchFamily="34" charset="0"/>
                <a:cs typeface="Arial" panose="020B0604020202020204" pitchFamily="34" charset="0"/>
              </a:rPr>
              <a:t>Reservations</a:t>
            </a:r>
            <a:endParaRPr lang="es-E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9355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F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1DC44A-7C99-DFB2-26EF-7F9D24E5C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99113831-581C-F09A-F5F0-6820249C3BC0}"/>
              </a:ext>
            </a:extLst>
          </p:cNvPr>
          <p:cNvSpPr txBox="1"/>
          <p:nvPr/>
        </p:nvSpPr>
        <p:spPr>
          <a:xfrm>
            <a:off x="2619412" y="2921168"/>
            <a:ext cx="69531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Próximos pasos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1B9004E-D073-6FCE-2851-127495A0A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s-E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C0DF060-19B9-BCD6-5ADB-ABDB5228B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lang="es-E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Fuente: </a:t>
            </a:r>
            <a:r>
              <a:rPr lang="es-E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es-E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Hotel </a:t>
            </a:r>
            <a:r>
              <a:rPr lang="es-E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Reservations</a:t>
            </a:r>
            <a:endParaRPr lang="es-E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526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14A70E-6A4F-1D1F-1C33-9435FEAA3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E86BD17-7FED-0865-28E7-08894F5D5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52E7CD-5939-E862-F659-54393524E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1D69F50-4B73-661E-ED87-07304838B436}"/>
              </a:ext>
            </a:extLst>
          </p:cNvPr>
          <p:cNvSpPr/>
          <p:nvPr/>
        </p:nvSpPr>
        <p:spPr>
          <a:xfrm>
            <a:off x="-10" y="17680"/>
            <a:ext cx="12191989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758F944-1A30-8731-9C4E-94A1C57B1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0418" y="300421"/>
            <a:ext cx="12292803" cy="1128864"/>
          </a:xfrm>
        </p:spPr>
        <p:txBody>
          <a:bodyPr anchor="t">
            <a:noAutofit/>
          </a:bodyPr>
          <a:lstStyle/>
          <a:p>
            <a:pPr algn="ctr"/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Implementar tecnología predictiva nos permitirá anticipar qué reservas se cancelarán y proteger los ingresos del hotel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C84964-122E-E441-EFA6-C2016D049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BC8D044-CE74-DA1C-86D0-F6EA145DE0D8}"/>
              </a:ext>
            </a:extLst>
          </p:cNvPr>
          <p:cNvSpPr/>
          <p:nvPr/>
        </p:nvSpPr>
        <p:spPr>
          <a:xfrm>
            <a:off x="905124" y="1863333"/>
            <a:ext cx="708917" cy="371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1CE6084-28EA-6117-BD85-52A7C03AA37C}"/>
              </a:ext>
            </a:extLst>
          </p:cNvPr>
          <p:cNvSpPr txBox="1"/>
          <p:nvPr/>
        </p:nvSpPr>
        <p:spPr>
          <a:xfrm>
            <a:off x="905124" y="3238271"/>
            <a:ext cx="7579392" cy="204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Anticiparse al cliente: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Diseñaremos un sistema de IA predictiva, para saber qué reservas concretas tienen una alta probabilidad de ser canceladas de cara al próximo año.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Plan de éxito financiero: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Traduciremos estas predicciones en un caso de negocio con recomendaciones comerciales directas para asegurar la ocupación y maximizar sus beneficios.</a:t>
            </a:r>
          </a:p>
          <a:p>
            <a:pPr algn="just"/>
            <a:endParaRPr lang="es-E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Gráfico 4" descr="Lupa con relleno sólido">
            <a:extLst>
              <a:ext uri="{FF2B5EF4-FFF2-40B4-BE49-F238E27FC236}">
                <a16:creationId xmlns:a16="http://schemas.microsoft.com/office/drawing/2014/main" id="{7BD4483E-FBE9-56FA-27EA-182B50CD6E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79155" y="2548543"/>
            <a:ext cx="914400" cy="914400"/>
          </a:xfrm>
          <a:prstGeom prst="rect">
            <a:avLst/>
          </a:prstGeom>
        </p:spPr>
      </p:pic>
      <p:pic>
        <p:nvPicPr>
          <p:cNvPr id="13" name="Gráfico 12" descr="Diana con relleno sólido">
            <a:extLst>
              <a:ext uri="{FF2B5EF4-FFF2-40B4-BE49-F238E27FC236}">
                <a16:creationId xmlns:a16="http://schemas.microsoft.com/office/drawing/2014/main" id="{A301045A-CD69-1073-FA32-C478234792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56586" y="3576988"/>
            <a:ext cx="914400" cy="914400"/>
          </a:xfrm>
          <a:prstGeom prst="rect">
            <a:avLst/>
          </a:prstGeom>
        </p:spPr>
      </p:pic>
      <p:pic>
        <p:nvPicPr>
          <p:cNvPr id="23" name="Imagen 22" descr="Icono&#10;&#10;El contenido generado por IA puede ser incorrecto.">
            <a:extLst>
              <a:ext uri="{FF2B5EF4-FFF2-40B4-BE49-F238E27FC236}">
                <a16:creationId xmlns:a16="http://schemas.microsoft.com/office/drawing/2014/main" id="{303D1988-8ECD-0C08-4134-89F806A1EB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3448" y="4582048"/>
            <a:ext cx="957503" cy="914400"/>
          </a:xfrm>
          <a:prstGeom prst="rect">
            <a:avLst/>
          </a:prstGeom>
        </p:spPr>
      </p:pic>
      <p:sp>
        <p:nvSpPr>
          <p:cNvPr id="24" name="Marcador de número de diapositiva 23">
            <a:extLst>
              <a:ext uri="{FF2B5EF4-FFF2-40B4-BE49-F238E27FC236}">
                <a16:creationId xmlns:a16="http://schemas.microsoft.com/office/drawing/2014/main" id="{7ADEC9BA-B0E9-B14E-7243-3EBEF338A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Marcador de pie de página 24">
            <a:extLst>
              <a:ext uri="{FF2B5EF4-FFF2-40B4-BE49-F238E27FC236}">
                <a16:creationId xmlns:a16="http://schemas.microsoft.com/office/drawing/2014/main" id="{598E5DF7-2E51-77A3-B616-3E50EB50C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83" y="6475195"/>
            <a:ext cx="4114800" cy="365125"/>
          </a:xfrm>
        </p:spPr>
        <p:txBody>
          <a:bodyPr/>
          <a:lstStyle/>
          <a:p>
            <a:r>
              <a:rPr lang="es-ES" sz="1000" dirty="0">
                <a:latin typeface="Arial" panose="020B0604020202020204" pitchFamily="34" charset="0"/>
                <a:cs typeface="Arial" panose="020B0604020202020204" pitchFamily="34" charset="0"/>
              </a:rPr>
              <a:t>Fuente: </a:t>
            </a:r>
            <a:r>
              <a:rPr lang="es-ES" sz="1000" dirty="0" err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es-ES" sz="1000" dirty="0">
                <a:latin typeface="Arial" panose="020B0604020202020204" pitchFamily="34" charset="0"/>
                <a:cs typeface="Arial" panose="020B0604020202020204" pitchFamily="34" charset="0"/>
              </a:rPr>
              <a:t> Hotel </a:t>
            </a:r>
            <a:r>
              <a:rPr lang="es-ES" sz="1000" dirty="0" err="1">
                <a:latin typeface="Arial" panose="020B0604020202020204" pitchFamily="34" charset="0"/>
                <a:cs typeface="Arial" panose="020B0604020202020204" pitchFamily="34" charset="0"/>
              </a:rPr>
              <a:t>Reservations</a:t>
            </a:r>
            <a:endParaRPr lang="es-E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751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F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5651C6-D62C-756C-F07D-886D25B65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C9AC2EE-F7DB-EC5D-16B0-B2C5AEB865B4}"/>
              </a:ext>
            </a:extLst>
          </p:cNvPr>
          <p:cNvSpPr txBox="1"/>
          <p:nvPr/>
        </p:nvSpPr>
        <p:spPr>
          <a:xfrm>
            <a:off x="2495259" y="2921168"/>
            <a:ext cx="72014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¿Alguna pregunta?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B0B394B-6BAE-DABC-5ADF-195D5F988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s-E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DDEA08-F0D4-A9A0-1D9E-9EC61DFA7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lang="es-E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Fuente: </a:t>
            </a:r>
            <a:r>
              <a:rPr lang="es-E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es-E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Hotel </a:t>
            </a:r>
            <a:r>
              <a:rPr lang="es-E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Reservations</a:t>
            </a:r>
            <a:endParaRPr lang="es-E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2495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1092</TotalTime>
  <Words>1079</Words>
  <Application>Microsoft Macintosh PowerPoint</Application>
  <PresentationFormat>Panorámica</PresentationFormat>
  <Paragraphs>98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Wingdings</vt:lpstr>
      <vt:lpstr>Tema de Office</vt:lpstr>
      <vt:lpstr>Análisis Estratégico de Cancelaciones Hoteleras</vt:lpstr>
      <vt:lpstr>Resumen Ejecutivo</vt:lpstr>
      <vt:lpstr>Agenda</vt:lpstr>
      <vt:lpstr>Presentación de PowerPoint</vt:lpstr>
      <vt:lpstr>El grueso de las reservas proviene de la vía Online, asumiendo a su vez la mayor tasa de cancelación</vt:lpstr>
      <vt:lpstr>La personalización blinda la reserva, realizar una única petición reduce a la mitad la tasa de cancelación</vt:lpstr>
      <vt:lpstr>El aumento de las tarifas impacta directamente en la cancelación de reservas, llegando hasta un 45% en verano</vt:lpstr>
      <vt:lpstr>A diferencia de los nuevos, los clientes repetidores reflejan una tasa de cancelación prácticamente nula</vt:lpstr>
      <vt:lpstr>Las reservas con más de 120 días de antelación disparan la tasa de cancelación por encima del 60%</vt:lpstr>
      <vt:lpstr>Presentación de PowerPoint</vt:lpstr>
      <vt:lpstr>Fomentar la fidelización y la personalización junto con políticas protectoras, reducirá drásticamente las cancelaciones</vt:lpstr>
      <vt:lpstr>Presentación de PowerPoint</vt:lpstr>
      <vt:lpstr>Implementar tecnología predictiva nos permitirá anticipar qué reservas se cancelarán y proteger los ingresos del hotel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Anais Nájar Martínez</dc:creator>
  <cp:lastModifiedBy>Anais Nájar Martínez</cp:lastModifiedBy>
  <cp:revision>31</cp:revision>
  <dcterms:created xsi:type="dcterms:W3CDTF">2026-02-28T10:30:30Z</dcterms:created>
  <dcterms:modified xsi:type="dcterms:W3CDTF">2026-03-05T11:42:33Z</dcterms:modified>
</cp:coreProperties>
</file>