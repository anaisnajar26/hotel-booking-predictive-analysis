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69" r:id="rId4"/>
    <p:sldId id="260" r:id="rId5"/>
    <p:sldId id="279" r:id="rId6"/>
    <p:sldId id="280" r:id="rId7"/>
    <p:sldId id="281" r:id="rId8"/>
    <p:sldId id="271" r:id="rId9"/>
    <p:sldId id="274" r:id="rId10"/>
    <p:sldId id="273" r:id="rId11"/>
    <p:sldId id="282" r:id="rId12"/>
    <p:sldId id="275" r:id="rId13"/>
    <p:sldId id="278" r:id="rId14"/>
    <p:sldId id="270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C15"/>
    <a:srgbClr val="162E3E"/>
    <a:srgbClr val="64738B"/>
    <a:srgbClr val="156082"/>
    <a:srgbClr val="162F3E"/>
    <a:srgbClr val="F2F2F2"/>
    <a:srgbClr val="0E202C"/>
    <a:srgbClr val="777777"/>
    <a:srgbClr val="555555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88"/>
    <p:restoredTop sz="96260"/>
  </p:normalViewPr>
  <p:slideViewPr>
    <p:cSldViewPr snapToGrid="0">
      <p:cViewPr varScale="1">
        <p:scale>
          <a:sx n="120" d="100"/>
          <a:sy n="120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image" Target="../media/image28.sv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ABBE48-B954-42D1-AF0D-D90C603E7C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6BDEE0-9AE3-4EE2-9038-50BC85EACA58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1. Preparación de los datos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8D980B-48F1-49FE-BA9A-0CBE257C91D5}" type="parTrans" cxnId="{C1871D71-C1A3-4BC5-8A94-AC6877F0128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2729DD-9FE2-4AB7-82CD-2EB37366024E}" type="sibTrans" cxnId="{C1871D71-C1A3-4BC5-8A94-AC6877F0128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B8AC11-E559-4683-B80D-EBBD71C7F64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n-US" u="none" dirty="0"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u="none" dirty="0" err="1">
              <a:latin typeface="Arial" panose="020B0604020202020204" pitchFamily="34" charset="0"/>
              <a:cs typeface="Arial" panose="020B0604020202020204" pitchFamily="34" charset="0"/>
            </a:rPr>
            <a:t>Metodología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51A4A8-FB0F-4F5A-A2DC-E4A69C27B9A8}" type="parTrans" cxnId="{B1291214-39C8-4110-905C-412D5473607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218287-4BF3-494E-9E9B-45DF47E7D0E5}" type="sibTrans" cxnId="{B1291214-39C8-4110-905C-412D5473607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508F0D-86CE-4EEF-8A04-9FFC83158C1B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3. Comparativa y selección de modelos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CA2D1E-1AFB-46FA-8890-42BB291571D5}" type="parTrans" cxnId="{B0B79F0D-B6D6-4949-BA4D-4254DDADA00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AEBADC-6145-4BF8-A549-346433778CE4}" type="sibTrans" cxnId="{B0B79F0D-B6D6-4949-BA4D-4254DDADA00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7E77C7-B29C-47EF-9F02-A8160B06B408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4. Modelo elegido 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C3C5B3-9735-4F19-9C4D-BE7BE6CB7032}" type="parTrans" cxnId="{DD55D55D-DFCC-4DEB-8C02-09E4D10BEB0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F810FA-77FC-45FE-B0AF-CEF7AC2429E5}" type="sibTrans" cxnId="{DD55D55D-DFCC-4DEB-8C02-09E4D10BEB0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230915-4EA7-44FF-BACD-D64CAF18476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5. Análisis de variables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36A396-997C-403A-BEA4-D60A2BD10255}" type="parTrans" cxnId="{043CA547-B06D-4A05-B359-D23FB66BA73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8C0A87-7955-4994-A13A-13D7ED5AA3F2}" type="sibTrans" cxnId="{043CA547-B06D-4A05-B359-D23FB66BA73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41D8E1-BA0D-42AF-9AF3-96CC8E67801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6. Creación de perfiles fiable vs riesgo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D6D5C-1B73-4C0E-90D2-4326A5EE59A7}" type="parTrans" cxnId="{040D35C3-BCC0-4A09-8031-BD07D9F8E02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F77666-D4A3-4AEF-A584-EDA833858860}" type="sibTrans" cxnId="{040D35C3-BCC0-4A09-8031-BD07D9F8E02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6F63C2-A122-4465-A1D7-099F5575BFAE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7. Estrategia de overbooking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A85901-D590-490C-B822-818E2EB37FB3}" type="parTrans" cxnId="{71817B16-B998-471D-8593-74BADB68257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57FC8B-4E50-48AD-84B8-5960DB2AFE13}" type="sibTrans" cxnId="{71817B16-B998-471D-8593-74BADB68257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5B9E35-A77C-4311-9A36-D39337C24137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8. Conclusiones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7AA1B-52F4-4786-B50C-347E9119A5A3}" type="parTrans" cxnId="{80E8A798-8E91-4833-9CA7-BA8384BB013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AE8AA8-50BC-4071-9978-C57FD7057372}" type="sibTrans" cxnId="{80E8A798-8E91-4833-9CA7-BA8384BB013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53B140-8A7E-48B6-91F3-86FE1F9E172A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9. Próximos pasos  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2FF0D-3DD5-4685-9739-522DBB30E9F4}" type="parTrans" cxnId="{F08EC515-91B5-44AA-AB01-E10D6A336FA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CE20CC-D5CE-4E0A-8DD5-4BD764DC64EC}" type="sibTrans" cxnId="{F08EC515-91B5-44AA-AB01-E10D6A336FA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599407-4437-0E48-98BD-2CB278AC5B83}" type="pres">
      <dgm:prSet presAssocID="{3AABBE48-B954-42D1-AF0D-D90C603E7C8F}" presName="linear" presStyleCnt="0">
        <dgm:presLayoutVars>
          <dgm:animLvl val="lvl"/>
          <dgm:resizeHandles val="exact"/>
        </dgm:presLayoutVars>
      </dgm:prSet>
      <dgm:spPr/>
    </dgm:pt>
    <dgm:pt modelId="{6B0C344B-5E5A-A14B-9818-6722D8D2A7C0}" type="pres">
      <dgm:prSet presAssocID="{DA6BDEE0-9AE3-4EE2-9038-50BC85EACA58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BAF5F11D-A53B-8549-86C9-E6E0C3401CAC}" type="pres">
      <dgm:prSet presAssocID="{A22729DD-9FE2-4AB7-82CD-2EB37366024E}" presName="spacer" presStyleCnt="0"/>
      <dgm:spPr/>
    </dgm:pt>
    <dgm:pt modelId="{202A3A83-E226-5142-A753-63F25B431BD4}" type="pres">
      <dgm:prSet presAssocID="{D0B8AC11-E559-4683-B80D-EBBD71C7F644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FFE00021-DF61-AA4F-8EA9-9354196C1115}" type="pres">
      <dgm:prSet presAssocID="{33218287-4BF3-494E-9E9B-45DF47E7D0E5}" presName="spacer" presStyleCnt="0"/>
      <dgm:spPr/>
    </dgm:pt>
    <dgm:pt modelId="{1F48731D-C904-1843-BAA3-01357CB853A9}" type="pres">
      <dgm:prSet presAssocID="{42508F0D-86CE-4EEF-8A04-9FFC83158C1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BBDE4F02-4726-E54A-80A8-30092EC2B235}" type="pres">
      <dgm:prSet presAssocID="{60AEBADC-6145-4BF8-A549-346433778CE4}" presName="spacer" presStyleCnt="0"/>
      <dgm:spPr/>
    </dgm:pt>
    <dgm:pt modelId="{87AF8C9A-1FEA-254C-9107-518F5510312F}" type="pres">
      <dgm:prSet presAssocID="{AA7E77C7-B29C-47EF-9F02-A8160B06B408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9E48FD64-8DF3-F14F-BB3B-F605728145B6}" type="pres">
      <dgm:prSet presAssocID="{CEF810FA-77FC-45FE-B0AF-CEF7AC2429E5}" presName="spacer" presStyleCnt="0"/>
      <dgm:spPr/>
    </dgm:pt>
    <dgm:pt modelId="{94167B7F-0FEE-9643-BEA4-176ED8987214}" type="pres">
      <dgm:prSet presAssocID="{AD230915-4EA7-44FF-BACD-D64CAF18476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913CAACD-F6AB-3946-BC9F-98B3AFB9C95E}" type="pres">
      <dgm:prSet presAssocID="{F58C0A87-7955-4994-A13A-13D7ED5AA3F2}" presName="spacer" presStyleCnt="0"/>
      <dgm:spPr/>
    </dgm:pt>
    <dgm:pt modelId="{44364C73-2072-F247-AC8E-D752A48996D8}" type="pres">
      <dgm:prSet presAssocID="{5341D8E1-BA0D-42AF-9AF3-96CC8E678014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7A7B6F6C-4720-1C41-8BF4-2700B4736E2E}" type="pres">
      <dgm:prSet presAssocID="{3CF77666-D4A3-4AEF-A584-EDA833858860}" presName="spacer" presStyleCnt="0"/>
      <dgm:spPr/>
    </dgm:pt>
    <dgm:pt modelId="{AD4BB4C8-C2FA-BC4F-88D5-7BAA2160CE89}" type="pres">
      <dgm:prSet presAssocID="{CC6F63C2-A122-4465-A1D7-099F5575BFAE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585BE369-5737-F047-8516-AABBB2292C40}" type="pres">
      <dgm:prSet presAssocID="{1757FC8B-4E50-48AD-84B8-5960DB2AFE13}" presName="spacer" presStyleCnt="0"/>
      <dgm:spPr/>
    </dgm:pt>
    <dgm:pt modelId="{DE1A8DE4-86CB-0449-9FC3-D732B38BA9DE}" type="pres">
      <dgm:prSet presAssocID="{C55B9E35-A77C-4311-9A36-D39337C24137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943B956E-9C3A-204E-83A4-06E333D7EDB8}" type="pres">
      <dgm:prSet presAssocID="{72AE8AA8-50BC-4071-9978-C57FD7057372}" presName="spacer" presStyleCnt="0"/>
      <dgm:spPr/>
    </dgm:pt>
    <dgm:pt modelId="{8D4E364D-01B9-BF4C-B2D9-8990CDAAFA36}" type="pres">
      <dgm:prSet presAssocID="{CC53B140-8A7E-48B6-91F3-86FE1F9E172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B0B79F0D-B6D6-4949-BA4D-4254DDADA001}" srcId="{3AABBE48-B954-42D1-AF0D-D90C603E7C8F}" destId="{42508F0D-86CE-4EEF-8A04-9FFC83158C1B}" srcOrd="2" destOrd="0" parTransId="{BFCA2D1E-1AFB-46FA-8890-42BB291571D5}" sibTransId="{60AEBADC-6145-4BF8-A549-346433778CE4}"/>
    <dgm:cxn modelId="{B1291214-39C8-4110-905C-412D54736076}" srcId="{3AABBE48-B954-42D1-AF0D-D90C603E7C8F}" destId="{D0B8AC11-E559-4683-B80D-EBBD71C7F644}" srcOrd="1" destOrd="0" parTransId="{E851A4A8-FB0F-4F5A-A2DC-E4A69C27B9A8}" sibTransId="{33218287-4BF3-494E-9E9B-45DF47E7D0E5}"/>
    <dgm:cxn modelId="{F08EC515-91B5-44AA-AB01-E10D6A336FA1}" srcId="{3AABBE48-B954-42D1-AF0D-D90C603E7C8F}" destId="{CC53B140-8A7E-48B6-91F3-86FE1F9E172A}" srcOrd="8" destOrd="0" parTransId="{0042FF0D-3DD5-4685-9739-522DBB30E9F4}" sibTransId="{7FCE20CC-D5CE-4E0A-8DD5-4BD764DC64EC}"/>
    <dgm:cxn modelId="{71817B16-B998-471D-8593-74BADB682572}" srcId="{3AABBE48-B954-42D1-AF0D-D90C603E7C8F}" destId="{CC6F63C2-A122-4465-A1D7-099F5575BFAE}" srcOrd="6" destOrd="0" parTransId="{ECA85901-D590-490C-B822-818E2EB37FB3}" sibTransId="{1757FC8B-4E50-48AD-84B8-5960DB2AFE13}"/>
    <dgm:cxn modelId="{043CA547-B06D-4A05-B359-D23FB66BA736}" srcId="{3AABBE48-B954-42D1-AF0D-D90C603E7C8F}" destId="{AD230915-4EA7-44FF-BACD-D64CAF184764}" srcOrd="4" destOrd="0" parTransId="{E936A396-997C-403A-BEA4-D60A2BD10255}" sibTransId="{F58C0A87-7955-4994-A13A-13D7ED5AA3F2}"/>
    <dgm:cxn modelId="{7FD21B4A-AB11-3947-AB95-72199D574BA3}" type="presOf" srcId="{CC6F63C2-A122-4465-A1D7-099F5575BFAE}" destId="{AD4BB4C8-C2FA-BC4F-88D5-7BAA2160CE89}" srcOrd="0" destOrd="0" presId="urn:microsoft.com/office/officeart/2005/8/layout/vList2"/>
    <dgm:cxn modelId="{5247BD59-9F81-6746-8C8B-65CA50EB67F4}" type="presOf" srcId="{3AABBE48-B954-42D1-AF0D-D90C603E7C8F}" destId="{06599407-4437-0E48-98BD-2CB278AC5B83}" srcOrd="0" destOrd="0" presId="urn:microsoft.com/office/officeart/2005/8/layout/vList2"/>
    <dgm:cxn modelId="{DD55D55D-DFCC-4DEB-8C02-09E4D10BEB02}" srcId="{3AABBE48-B954-42D1-AF0D-D90C603E7C8F}" destId="{AA7E77C7-B29C-47EF-9F02-A8160B06B408}" srcOrd="3" destOrd="0" parTransId="{41C3C5B3-9735-4F19-9C4D-BE7BE6CB7032}" sibTransId="{CEF810FA-77FC-45FE-B0AF-CEF7AC2429E5}"/>
    <dgm:cxn modelId="{C798DF5D-E53D-F645-B115-5178A329C08D}" type="presOf" srcId="{5341D8E1-BA0D-42AF-9AF3-96CC8E678014}" destId="{44364C73-2072-F247-AC8E-D752A48996D8}" srcOrd="0" destOrd="0" presId="urn:microsoft.com/office/officeart/2005/8/layout/vList2"/>
    <dgm:cxn modelId="{FF6CB463-3F08-B240-93E6-8E531B08CF3F}" type="presOf" srcId="{AA7E77C7-B29C-47EF-9F02-A8160B06B408}" destId="{87AF8C9A-1FEA-254C-9107-518F5510312F}" srcOrd="0" destOrd="0" presId="urn:microsoft.com/office/officeart/2005/8/layout/vList2"/>
    <dgm:cxn modelId="{C05B4E6E-DB26-054C-8E96-E80326CE0253}" type="presOf" srcId="{CC53B140-8A7E-48B6-91F3-86FE1F9E172A}" destId="{8D4E364D-01B9-BF4C-B2D9-8990CDAAFA36}" srcOrd="0" destOrd="0" presId="urn:microsoft.com/office/officeart/2005/8/layout/vList2"/>
    <dgm:cxn modelId="{835DE86F-0304-8C4B-86CD-BB6EF80D7BFD}" type="presOf" srcId="{D0B8AC11-E559-4683-B80D-EBBD71C7F644}" destId="{202A3A83-E226-5142-A753-63F25B431BD4}" srcOrd="0" destOrd="0" presId="urn:microsoft.com/office/officeart/2005/8/layout/vList2"/>
    <dgm:cxn modelId="{C1871D71-C1A3-4BC5-8A94-AC6877F01286}" srcId="{3AABBE48-B954-42D1-AF0D-D90C603E7C8F}" destId="{DA6BDEE0-9AE3-4EE2-9038-50BC85EACA58}" srcOrd="0" destOrd="0" parTransId="{828D980B-48F1-49FE-BA9A-0CBE257C91D5}" sibTransId="{A22729DD-9FE2-4AB7-82CD-2EB37366024E}"/>
    <dgm:cxn modelId="{80E8A798-8E91-4833-9CA7-BA8384BB0138}" srcId="{3AABBE48-B954-42D1-AF0D-D90C603E7C8F}" destId="{C55B9E35-A77C-4311-9A36-D39337C24137}" srcOrd="7" destOrd="0" parTransId="{A5E7AA1B-52F4-4786-B50C-347E9119A5A3}" sibTransId="{72AE8AA8-50BC-4071-9978-C57FD7057372}"/>
    <dgm:cxn modelId="{97FAC1A6-091A-514C-9652-B09052076955}" type="presOf" srcId="{C55B9E35-A77C-4311-9A36-D39337C24137}" destId="{DE1A8DE4-86CB-0449-9FC3-D732B38BA9DE}" srcOrd="0" destOrd="0" presId="urn:microsoft.com/office/officeart/2005/8/layout/vList2"/>
    <dgm:cxn modelId="{733240A9-EAB6-A041-B8D9-2802FE54F0A5}" type="presOf" srcId="{DA6BDEE0-9AE3-4EE2-9038-50BC85EACA58}" destId="{6B0C344B-5E5A-A14B-9818-6722D8D2A7C0}" srcOrd="0" destOrd="0" presId="urn:microsoft.com/office/officeart/2005/8/layout/vList2"/>
    <dgm:cxn modelId="{040D35C3-BCC0-4A09-8031-BD07D9F8E028}" srcId="{3AABBE48-B954-42D1-AF0D-D90C603E7C8F}" destId="{5341D8E1-BA0D-42AF-9AF3-96CC8E678014}" srcOrd="5" destOrd="0" parTransId="{9DCD6D5C-1B73-4C0E-90D2-4326A5EE59A7}" sibTransId="{3CF77666-D4A3-4AEF-A584-EDA833858860}"/>
    <dgm:cxn modelId="{E070A7DB-CDB5-AF4F-A850-E055C1286A29}" type="presOf" srcId="{42508F0D-86CE-4EEF-8A04-9FFC83158C1B}" destId="{1F48731D-C904-1843-BAA3-01357CB853A9}" srcOrd="0" destOrd="0" presId="urn:microsoft.com/office/officeart/2005/8/layout/vList2"/>
    <dgm:cxn modelId="{CD555EF5-18CC-7343-86AA-4B3606AC056A}" type="presOf" srcId="{AD230915-4EA7-44FF-BACD-D64CAF184764}" destId="{94167B7F-0FEE-9643-BEA4-176ED8987214}" srcOrd="0" destOrd="0" presId="urn:microsoft.com/office/officeart/2005/8/layout/vList2"/>
    <dgm:cxn modelId="{4B0FC1E8-58CB-1B45-99BB-6AA3B9DA2357}" type="presParOf" srcId="{06599407-4437-0E48-98BD-2CB278AC5B83}" destId="{6B0C344B-5E5A-A14B-9818-6722D8D2A7C0}" srcOrd="0" destOrd="0" presId="urn:microsoft.com/office/officeart/2005/8/layout/vList2"/>
    <dgm:cxn modelId="{1681CC28-676A-744A-B125-5CCFD8E9C1FD}" type="presParOf" srcId="{06599407-4437-0E48-98BD-2CB278AC5B83}" destId="{BAF5F11D-A53B-8549-86C9-E6E0C3401CAC}" srcOrd="1" destOrd="0" presId="urn:microsoft.com/office/officeart/2005/8/layout/vList2"/>
    <dgm:cxn modelId="{4FAF6357-2898-5347-AB68-1744EA7D9415}" type="presParOf" srcId="{06599407-4437-0E48-98BD-2CB278AC5B83}" destId="{202A3A83-E226-5142-A753-63F25B431BD4}" srcOrd="2" destOrd="0" presId="urn:microsoft.com/office/officeart/2005/8/layout/vList2"/>
    <dgm:cxn modelId="{3D84437A-8AAE-1F43-BF7B-103E9852F909}" type="presParOf" srcId="{06599407-4437-0E48-98BD-2CB278AC5B83}" destId="{FFE00021-DF61-AA4F-8EA9-9354196C1115}" srcOrd="3" destOrd="0" presId="urn:microsoft.com/office/officeart/2005/8/layout/vList2"/>
    <dgm:cxn modelId="{D1CA6F50-B507-1940-BCFD-AA60B8419380}" type="presParOf" srcId="{06599407-4437-0E48-98BD-2CB278AC5B83}" destId="{1F48731D-C904-1843-BAA3-01357CB853A9}" srcOrd="4" destOrd="0" presId="urn:microsoft.com/office/officeart/2005/8/layout/vList2"/>
    <dgm:cxn modelId="{FC112C1F-3FCB-D942-BD9F-B8235A01EE5F}" type="presParOf" srcId="{06599407-4437-0E48-98BD-2CB278AC5B83}" destId="{BBDE4F02-4726-E54A-80A8-30092EC2B235}" srcOrd="5" destOrd="0" presId="urn:microsoft.com/office/officeart/2005/8/layout/vList2"/>
    <dgm:cxn modelId="{46FD75FF-1AF4-EC43-A025-196452CC2B54}" type="presParOf" srcId="{06599407-4437-0E48-98BD-2CB278AC5B83}" destId="{87AF8C9A-1FEA-254C-9107-518F5510312F}" srcOrd="6" destOrd="0" presId="urn:microsoft.com/office/officeart/2005/8/layout/vList2"/>
    <dgm:cxn modelId="{0BD3ECD7-152D-BB4A-A966-4A6030AD0CE8}" type="presParOf" srcId="{06599407-4437-0E48-98BD-2CB278AC5B83}" destId="{9E48FD64-8DF3-F14F-BB3B-F605728145B6}" srcOrd="7" destOrd="0" presId="urn:microsoft.com/office/officeart/2005/8/layout/vList2"/>
    <dgm:cxn modelId="{168A034A-8B9D-5846-A050-084B58AF2DBA}" type="presParOf" srcId="{06599407-4437-0E48-98BD-2CB278AC5B83}" destId="{94167B7F-0FEE-9643-BEA4-176ED8987214}" srcOrd="8" destOrd="0" presId="urn:microsoft.com/office/officeart/2005/8/layout/vList2"/>
    <dgm:cxn modelId="{C3BF5E05-B72A-8B46-B088-C52C10B04FED}" type="presParOf" srcId="{06599407-4437-0E48-98BD-2CB278AC5B83}" destId="{913CAACD-F6AB-3946-BC9F-98B3AFB9C95E}" srcOrd="9" destOrd="0" presId="urn:microsoft.com/office/officeart/2005/8/layout/vList2"/>
    <dgm:cxn modelId="{C6484B43-4690-0C4D-880A-255B67792C45}" type="presParOf" srcId="{06599407-4437-0E48-98BD-2CB278AC5B83}" destId="{44364C73-2072-F247-AC8E-D752A48996D8}" srcOrd="10" destOrd="0" presId="urn:microsoft.com/office/officeart/2005/8/layout/vList2"/>
    <dgm:cxn modelId="{CE625D2F-46A6-8A4C-A276-88BC4C259973}" type="presParOf" srcId="{06599407-4437-0E48-98BD-2CB278AC5B83}" destId="{7A7B6F6C-4720-1C41-8BF4-2700B4736E2E}" srcOrd="11" destOrd="0" presId="urn:microsoft.com/office/officeart/2005/8/layout/vList2"/>
    <dgm:cxn modelId="{70EB683F-5114-D84B-A550-3EC7AEFBE7F7}" type="presParOf" srcId="{06599407-4437-0E48-98BD-2CB278AC5B83}" destId="{AD4BB4C8-C2FA-BC4F-88D5-7BAA2160CE89}" srcOrd="12" destOrd="0" presId="urn:microsoft.com/office/officeart/2005/8/layout/vList2"/>
    <dgm:cxn modelId="{16306B6F-EC67-D645-B5A4-16CE20262527}" type="presParOf" srcId="{06599407-4437-0E48-98BD-2CB278AC5B83}" destId="{585BE369-5737-F047-8516-AABBB2292C40}" srcOrd="13" destOrd="0" presId="urn:microsoft.com/office/officeart/2005/8/layout/vList2"/>
    <dgm:cxn modelId="{B77DE82A-93E4-7E47-B37C-93E8CAF5C62D}" type="presParOf" srcId="{06599407-4437-0E48-98BD-2CB278AC5B83}" destId="{DE1A8DE4-86CB-0449-9FC3-D732B38BA9DE}" srcOrd="14" destOrd="0" presId="urn:microsoft.com/office/officeart/2005/8/layout/vList2"/>
    <dgm:cxn modelId="{16B66633-A4D4-D843-8D69-A12A39A110A6}" type="presParOf" srcId="{06599407-4437-0E48-98BD-2CB278AC5B83}" destId="{943B956E-9C3A-204E-83A4-06E333D7EDB8}" srcOrd="15" destOrd="0" presId="urn:microsoft.com/office/officeart/2005/8/layout/vList2"/>
    <dgm:cxn modelId="{E141F782-AAE1-434D-81D9-2942C93C5831}" type="presParOf" srcId="{06599407-4437-0E48-98BD-2CB278AC5B83}" destId="{8D4E364D-01B9-BF4C-B2D9-8990CDAAFA36}" srcOrd="1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B833B7-0120-450B-84F9-35C73317EA3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014149-7F50-436F-8D50-F0F1CB1D35A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Eliminación de filas con valores irreales.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0FFE84-7D3A-47C6-AA04-AC2F6D5E8CFC}" type="parTrans" cxnId="{5D7B02B0-1187-4FF1-8C86-C219D2763543}">
      <dgm:prSet/>
      <dgm:spPr/>
      <dgm:t>
        <a:bodyPr/>
        <a:lstStyle/>
        <a:p>
          <a:endParaRPr lang="en-US"/>
        </a:p>
      </dgm:t>
    </dgm:pt>
    <dgm:pt modelId="{E9DE382D-62F8-4B77-A452-585CBB925D21}" type="sibTrans" cxnId="{5D7B02B0-1187-4FF1-8C86-C219D2763543}">
      <dgm:prSet/>
      <dgm:spPr/>
      <dgm:t>
        <a:bodyPr/>
        <a:lstStyle/>
        <a:p>
          <a:endParaRPr lang="en-US"/>
        </a:p>
      </dgm:t>
    </dgm:pt>
    <dgm:pt modelId="{A9329023-47BA-4B14-9847-006B037AC5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Creación de la variable binaria “target”.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AC8149-B5A5-42F6-9A91-2037C3F1D608}" type="parTrans" cxnId="{EDEDA79F-9852-4EFF-9E47-10ACC4AB6F59}">
      <dgm:prSet/>
      <dgm:spPr/>
      <dgm:t>
        <a:bodyPr/>
        <a:lstStyle/>
        <a:p>
          <a:endParaRPr lang="en-US"/>
        </a:p>
      </dgm:t>
    </dgm:pt>
    <dgm:pt modelId="{B6BEC75A-C57F-4380-9BC0-64D33201DABC}" type="sibTrans" cxnId="{EDEDA79F-9852-4EFF-9E47-10ACC4AB6F59}">
      <dgm:prSet/>
      <dgm:spPr/>
      <dgm:t>
        <a:bodyPr/>
        <a:lstStyle/>
        <a:p>
          <a:endParaRPr lang="en-US"/>
        </a:p>
      </dgm:t>
    </dgm:pt>
    <dgm:pt modelId="{30C2C37D-CC1C-4D5C-A3D7-384066F1D31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Transformación de variables categóricas mediante K-1 </a:t>
          </a:r>
          <a:r>
            <a:rPr lang="es-ES" dirty="0" err="1">
              <a:latin typeface="Arial" panose="020B0604020202020204" pitchFamily="34" charset="0"/>
              <a:cs typeface="Arial" panose="020B0604020202020204" pitchFamily="34" charset="0"/>
            </a:rPr>
            <a:t>Encoding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5A331F-6651-4C35-BB4C-30625CB99CAE}" type="parTrans" cxnId="{B25F7909-299B-48FF-9BA4-DB30F75E1AD6}">
      <dgm:prSet/>
      <dgm:spPr/>
      <dgm:t>
        <a:bodyPr/>
        <a:lstStyle/>
        <a:p>
          <a:endParaRPr lang="en-US"/>
        </a:p>
      </dgm:t>
    </dgm:pt>
    <dgm:pt modelId="{25EE695B-708A-41DB-96B1-D2FEA83380D5}" type="sibTrans" cxnId="{B25F7909-299B-48FF-9BA4-DB30F75E1AD6}">
      <dgm:prSet/>
      <dgm:spPr/>
      <dgm:t>
        <a:bodyPr/>
        <a:lstStyle/>
        <a:p>
          <a:endParaRPr lang="en-US"/>
        </a:p>
      </dgm:t>
    </dgm:pt>
    <dgm:pt modelId="{517B16F4-0B68-4CEC-8A12-1DC23C35636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División temporal siguiendo el orden cronológico de las reservas.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8F6037-EE85-40B7-B23C-6A7C4F04784B}" type="parTrans" cxnId="{33B62B50-5A4A-4FCF-81E6-549F691FAAC3}">
      <dgm:prSet/>
      <dgm:spPr/>
      <dgm:t>
        <a:bodyPr/>
        <a:lstStyle/>
        <a:p>
          <a:endParaRPr lang="en-US"/>
        </a:p>
      </dgm:t>
    </dgm:pt>
    <dgm:pt modelId="{1674811C-0E23-47D3-A8CC-F92D3A2C1B74}" type="sibTrans" cxnId="{33B62B50-5A4A-4FCF-81E6-549F691FAAC3}">
      <dgm:prSet/>
      <dgm:spPr/>
      <dgm:t>
        <a:bodyPr/>
        <a:lstStyle/>
        <a:p>
          <a:endParaRPr lang="en-US"/>
        </a:p>
      </dgm:t>
    </dgm:pt>
    <dgm:pt modelId="{1215D400-6D68-4806-908B-C2D4753BC95A}" type="pres">
      <dgm:prSet presAssocID="{B7B833B7-0120-450B-84F9-35C73317EA32}" presName="root" presStyleCnt="0">
        <dgm:presLayoutVars>
          <dgm:dir/>
          <dgm:resizeHandles val="exact"/>
        </dgm:presLayoutVars>
      </dgm:prSet>
      <dgm:spPr/>
    </dgm:pt>
    <dgm:pt modelId="{53D9B26C-FF85-4BAF-BE87-C77ED7C6666D}" type="pres">
      <dgm:prSet presAssocID="{8E014149-7F50-436F-8D50-F0F1CB1D35A6}" presName="compNode" presStyleCnt="0"/>
      <dgm:spPr/>
    </dgm:pt>
    <dgm:pt modelId="{02E61EF2-F207-4672-B602-A300B353FB7A}" type="pres">
      <dgm:prSet presAssocID="{8E014149-7F50-436F-8D50-F0F1CB1D35A6}" presName="iconBgRect" presStyleLbl="bgShp" presStyleIdx="0" presStyleCnt="4"/>
      <dgm:spPr/>
    </dgm:pt>
    <dgm:pt modelId="{6452599D-97A4-4431-ADA8-452B70BF1024}" type="pres">
      <dgm:prSet presAssocID="{8E014149-7F50-436F-8D50-F0F1CB1D35A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3722F8AD-BF31-4BD9-91BF-F0652DA5BCE9}" type="pres">
      <dgm:prSet presAssocID="{8E014149-7F50-436F-8D50-F0F1CB1D35A6}" presName="spaceRect" presStyleCnt="0"/>
      <dgm:spPr/>
    </dgm:pt>
    <dgm:pt modelId="{4CC8B112-2B7A-423F-B835-C54B1A9B35A8}" type="pres">
      <dgm:prSet presAssocID="{8E014149-7F50-436F-8D50-F0F1CB1D35A6}" presName="textRect" presStyleLbl="revTx" presStyleIdx="0" presStyleCnt="4">
        <dgm:presLayoutVars>
          <dgm:chMax val="1"/>
          <dgm:chPref val="1"/>
        </dgm:presLayoutVars>
      </dgm:prSet>
      <dgm:spPr/>
    </dgm:pt>
    <dgm:pt modelId="{AF8A2B06-7C83-4115-B8CF-4C81E340FBDA}" type="pres">
      <dgm:prSet presAssocID="{E9DE382D-62F8-4B77-A452-585CBB925D21}" presName="sibTrans" presStyleCnt="0"/>
      <dgm:spPr/>
    </dgm:pt>
    <dgm:pt modelId="{74EBA7FB-8F9D-4B88-8EAB-2169A86C1283}" type="pres">
      <dgm:prSet presAssocID="{A9329023-47BA-4B14-9847-006B037AC51A}" presName="compNode" presStyleCnt="0"/>
      <dgm:spPr/>
    </dgm:pt>
    <dgm:pt modelId="{E74CC76D-FC77-4239-803F-00940CFF88F0}" type="pres">
      <dgm:prSet presAssocID="{A9329023-47BA-4B14-9847-006B037AC51A}" presName="iconBgRect" presStyleLbl="bgShp" presStyleIdx="1" presStyleCnt="4"/>
      <dgm:spPr/>
    </dgm:pt>
    <dgm:pt modelId="{FB7EBC21-E125-4857-9880-530AA81141B1}" type="pres">
      <dgm:prSet presAssocID="{A9329023-47BA-4B14-9847-006B037AC51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8D87BC2-AA44-46D4-8C1F-DAF8719C2EF6}" type="pres">
      <dgm:prSet presAssocID="{A9329023-47BA-4B14-9847-006B037AC51A}" presName="spaceRect" presStyleCnt="0"/>
      <dgm:spPr/>
    </dgm:pt>
    <dgm:pt modelId="{497EB0B8-365B-4E9A-BA18-59303B613395}" type="pres">
      <dgm:prSet presAssocID="{A9329023-47BA-4B14-9847-006B037AC51A}" presName="textRect" presStyleLbl="revTx" presStyleIdx="1" presStyleCnt="4">
        <dgm:presLayoutVars>
          <dgm:chMax val="1"/>
          <dgm:chPref val="1"/>
        </dgm:presLayoutVars>
      </dgm:prSet>
      <dgm:spPr/>
    </dgm:pt>
    <dgm:pt modelId="{9C5F9634-C720-4697-AD16-6B0261948DF0}" type="pres">
      <dgm:prSet presAssocID="{B6BEC75A-C57F-4380-9BC0-64D33201DABC}" presName="sibTrans" presStyleCnt="0"/>
      <dgm:spPr/>
    </dgm:pt>
    <dgm:pt modelId="{6F5B5243-7326-4808-9FA0-73D8A9B8D4E7}" type="pres">
      <dgm:prSet presAssocID="{30C2C37D-CC1C-4D5C-A3D7-384066F1D31C}" presName="compNode" presStyleCnt="0"/>
      <dgm:spPr/>
    </dgm:pt>
    <dgm:pt modelId="{F81C1D25-28BC-4E1B-83CB-73E437018173}" type="pres">
      <dgm:prSet presAssocID="{30C2C37D-CC1C-4D5C-A3D7-384066F1D31C}" presName="iconBgRect" presStyleLbl="bgShp" presStyleIdx="2" presStyleCnt="4"/>
      <dgm:spPr/>
    </dgm:pt>
    <dgm:pt modelId="{06B24244-3091-447B-8A9B-8A0679969CD1}" type="pres">
      <dgm:prSet presAssocID="{30C2C37D-CC1C-4D5C-A3D7-384066F1D31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49814B0A-56AD-43F7-8A47-B4033D6755FB}" type="pres">
      <dgm:prSet presAssocID="{30C2C37D-CC1C-4D5C-A3D7-384066F1D31C}" presName="spaceRect" presStyleCnt="0"/>
      <dgm:spPr/>
    </dgm:pt>
    <dgm:pt modelId="{69AC0121-2C0A-49DC-A721-1B8B5EA3BC03}" type="pres">
      <dgm:prSet presAssocID="{30C2C37D-CC1C-4D5C-A3D7-384066F1D31C}" presName="textRect" presStyleLbl="revTx" presStyleIdx="2" presStyleCnt="4">
        <dgm:presLayoutVars>
          <dgm:chMax val="1"/>
          <dgm:chPref val="1"/>
        </dgm:presLayoutVars>
      </dgm:prSet>
      <dgm:spPr/>
    </dgm:pt>
    <dgm:pt modelId="{657718C9-439D-44DE-B9B0-C6DDF0045554}" type="pres">
      <dgm:prSet presAssocID="{25EE695B-708A-41DB-96B1-D2FEA83380D5}" presName="sibTrans" presStyleCnt="0"/>
      <dgm:spPr/>
    </dgm:pt>
    <dgm:pt modelId="{297D38AD-86AD-49C5-8457-B0EE19D697D2}" type="pres">
      <dgm:prSet presAssocID="{517B16F4-0B68-4CEC-8A12-1DC23C356363}" presName="compNode" presStyleCnt="0"/>
      <dgm:spPr/>
    </dgm:pt>
    <dgm:pt modelId="{1DFBB965-8B76-45F6-99EB-A54EF1DDEB48}" type="pres">
      <dgm:prSet presAssocID="{517B16F4-0B68-4CEC-8A12-1DC23C356363}" presName="iconBgRect" presStyleLbl="bgShp" presStyleIdx="3" presStyleCnt="4"/>
      <dgm:spPr/>
    </dgm:pt>
    <dgm:pt modelId="{7F51BA75-732E-4BB8-B1B7-64AEBA9EA0D6}" type="pres">
      <dgm:prSet presAssocID="{517B16F4-0B68-4CEC-8A12-1DC23C35636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ón"/>
        </a:ext>
      </dgm:extLst>
    </dgm:pt>
    <dgm:pt modelId="{8AAF9D16-A8CE-4693-A724-ED484156A2C7}" type="pres">
      <dgm:prSet presAssocID="{517B16F4-0B68-4CEC-8A12-1DC23C356363}" presName="spaceRect" presStyleCnt="0"/>
      <dgm:spPr/>
    </dgm:pt>
    <dgm:pt modelId="{26C0D3D3-AA43-4013-8DEF-26CD0BEF2B4C}" type="pres">
      <dgm:prSet presAssocID="{517B16F4-0B68-4CEC-8A12-1DC23C35636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25F7909-299B-48FF-9BA4-DB30F75E1AD6}" srcId="{B7B833B7-0120-450B-84F9-35C73317EA32}" destId="{30C2C37D-CC1C-4D5C-A3D7-384066F1D31C}" srcOrd="2" destOrd="0" parTransId="{B85A331F-6651-4C35-BB4C-30625CB99CAE}" sibTransId="{25EE695B-708A-41DB-96B1-D2FEA83380D5}"/>
    <dgm:cxn modelId="{78E3C011-7A88-40B9-8A16-FC0FC0D6A9FF}" type="presOf" srcId="{30C2C37D-CC1C-4D5C-A3D7-384066F1D31C}" destId="{69AC0121-2C0A-49DC-A721-1B8B5EA3BC03}" srcOrd="0" destOrd="0" presId="urn:microsoft.com/office/officeart/2018/5/layout/IconCircleLabelList"/>
    <dgm:cxn modelId="{4ECE5D23-49AB-4B20-97D7-7ED5499006A9}" type="presOf" srcId="{B7B833B7-0120-450B-84F9-35C73317EA32}" destId="{1215D400-6D68-4806-908B-C2D4753BC95A}" srcOrd="0" destOrd="0" presId="urn:microsoft.com/office/officeart/2018/5/layout/IconCircleLabelList"/>
    <dgm:cxn modelId="{85566735-F992-4EE9-8347-4155389BBC4C}" type="presOf" srcId="{A9329023-47BA-4B14-9847-006B037AC51A}" destId="{497EB0B8-365B-4E9A-BA18-59303B613395}" srcOrd="0" destOrd="0" presId="urn:microsoft.com/office/officeart/2018/5/layout/IconCircleLabelList"/>
    <dgm:cxn modelId="{33B62B50-5A4A-4FCF-81E6-549F691FAAC3}" srcId="{B7B833B7-0120-450B-84F9-35C73317EA32}" destId="{517B16F4-0B68-4CEC-8A12-1DC23C356363}" srcOrd="3" destOrd="0" parTransId="{FA8F6037-EE85-40B7-B23C-6A7C4F04784B}" sibTransId="{1674811C-0E23-47D3-A8CC-F92D3A2C1B74}"/>
    <dgm:cxn modelId="{E86C2B57-A3C7-4F6A-AF96-7A01119A36BC}" type="presOf" srcId="{517B16F4-0B68-4CEC-8A12-1DC23C356363}" destId="{26C0D3D3-AA43-4013-8DEF-26CD0BEF2B4C}" srcOrd="0" destOrd="0" presId="urn:microsoft.com/office/officeart/2018/5/layout/IconCircleLabelList"/>
    <dgm:cxn modelId="{EDEDA79F-9852-4EFF-9E47-10ACC4AB6F59}" srcId="{B7B833B7-0120-450B-84F9-35C73317EA32}" destId="{A9329023-47BA-4B14-9847-006B037AC51A}" srcOrd="1" destOrd="0" parTransId="{49AC8149-B5A5-42F6-9A91-2037C3F1D608}" sibTransId="{B6BEC75A-C57F-4380-9BC0-64D33201DABC}"/>
    <dgm:cxn modelId="{5D7B02B0-1187-4FF1-8C86-C219D2763543}" srcId="{B7B833B7-0120-450B-84F9-35C73317EA32}" destId="{8E014149-7F50-436F-8D50-F0F1CB1D35A6}" srcOrd="0" destOrd="0" parTransId="{D60FFE84-7D3A-47C6-AA04-AC2F6D5E8CFC}" sibTransId="{E9DE382D-62F8-4B77-A452-585CBB925D21}"/>
    <dgm:cxn modelId="{485248DE-5EA5-4620-B0F8-FA20AF78D229}" type="presOf" srcId="{8E014149-7F50-436F-8D50-F0F1CB1D35A6}" destId="{4CC8B112-2B7A-423F-B835-C54B1A9B35A8}" srcOrd="0" destOrd="0" presId="urn:microsoft.com/office/officeart/2018/5/layout/IconCircleLabelList"/>
    <dgm:cxn modelId="{662CC4E7-389F-4FD4-8774-92D537DA7FB2}" type="presParOf" srcId="{1215D400-6D68-4806-908B-C2D4753BC95A}" destId="{53D9B26C-FF85-4BAF-BE87-C77ED7C6666D}" srcOrd="0" destOrd="0" presId="urn:microsoft.com/office/officeart/2018/5/layout/IconCircleLabelList"/>
    <dgm:cxn modelId="{2194F31D-76C4-45FE-B53D-C094A1D2363B}" type="presParOf" srcId="{53D9B26C-FF85-4BAF-BE87-C77ED7C6666D}" destId="{02E61EF2-F207-4672-B602-A300B353FB7A}" srcOrd="0" destOrd="0" presId="urn:microsoft.com/office/officeart/2018/5/layout/IconCircleLabelList"/>
    <dgm:cxn modelId="{E1106BD2-A60B-4D73-9A8E-9A122FDD967D}" type="presParOf" srcId="{53D9B26C-FF85-4BAF-BE87-C77ED7C6666D}" destId="{6452599D-97A4-4431-ADA8-452B70BF1024}" srcOrd="1" destOrd="0" presId="urn:microsoft.com/office/officeart/2018/5/layout/IconCircleLabelList"/>
    <dgm:cxn modelId="{BA790634-A65F-4783-B20A-E4553B930E41}" type="presParOf" srcId="{53D9B26C-FF85-4BAF-BE87-C77ED7C6666D}" destId="{3722F8AD-BF31-4BD9-91BF-F0652DA5BCE9}" srcOrd="2" destOrd="0" presId="urn:microsoft.com/office/officeart/2018/5/layout/IconCircleLabelList"/>
    <dgm:cxn modelId="{9E61AA47-5DCD-429B-8CB4-58C4A71818A5}" type="presParOf" srcId="{53D9B26C-FF85-4BAF-BE87-C77ED7C6666D}" destId="{4CC8B112-2B7A-423F-B835-C54B1A9B35A8}" srcOrd="3" destOrd="0" presId="urn:microsoft.com/office/officeart/2018/5/layout/IconCircleLabelList"/>
    <dgm:cxn modelId="{8C2E26A8-4D96-4F7E-9A73-32888049A665}" type="presParOf" srcId="{1215D400-6D68-4806-908B-C2D4753BC95A}" destId="{AF8A2B06-7C83-4115-B8CF-4C81E340FBDA}" srcOrd="1" destOrd="0" presId="urn:microsoft.com/office/officeart/2018/5/layout/IconCircleLabelList"/>
    <dgm:cxn modelId="{80C49BCA-5CFD-4E9C-9A93-03FCEA9E4E18}" type="presParOf" srcId="{1215D400-6D68-4806-908B-C2D4753BC95A}" destId="{74EBA7FB-8F9D-4B88-8EAB-2169A86C1283}" srcOrd="2" destOrd="0" presId="urn:microsoft.com/office/officeart/2018/5/layout/IconCircleLabelList"/>
    <dgm:cxn modelId="{A6339FB5-B1A2-45B8-ABE9-00A887B709FB}" type="presParOf" srcId="{74EBA7FB-8F9D-4B88-8EAB-2169A86C1283}" destId="{E74CC76D-FC77-4239-803F-00940CFF88F0}" srcOrd="0" destOrd="0" presId="urn:microsoft.com/office/officeart/2018/5/layout/IconCircleLabelList"/>
    <dgm:cxn modelId="{20612116-5384-4744-B32B-5C48710113A4}" type="presParOf" srcId="{74EBA7FB-8F9D-4B88-8EAB-2169A86C1283}" destId="{FB7EBC21-E125-4857-9880-530AA81141B1}" srcOrd="1" destOrd="0" presId="urn:microsoft.com/office/officeart/2018/5/layout/IconCircleLabelList"/>
    <dgm:cxn modelId="{6FB2ED3C-BCC5-4684-92A4-698AC2C12926}" type="presParOf" srcId="{74EBA7FB-8F9D-4B88-8EAB-2169A86C1283}" destId="{B8D87BC2-AA44-46D4-8C1F-DAF8719C2EF6}" srcOrd="2" destOrd="0" presId="urn:microsoft.com/office/officeart/2018/5/layout/IconCircleLabelList"/>
    <dgm:cxn modelId="{753F26AA-622E-41A7-9CD3-F8B57DAA3F08}" type="presParOf" srcId="{74EBA7FB-8F9D-4B88-8EAB-2169A86C1283}" destId="{497EB0B8-365B-4E9A-BA18-59303B613395}" srcOrd="3" destOrd="0" presId="urn:microsoft.com/office/officeart/2018/5/layout/IconCircleLabelList"/>
    <dgm:cxn modelId="{103BBEE0-2F05-4BD1-996B-7DBCF8561D5A}" type="presParOf" srcId="{1215D400-6D68-4806-908B-C2D4753BC95A}" destId="{9C5F9634-C720-4697-AD16-6B0261948DF0}" srcOrd="3" destOrd="0" presId="urn:microsoft.com/office/officeart/2018/5/layout/IconCircleLabelList"/>
    <dgm:cxn modelId="{BD190A70-D123-48A3-992D-915F9EE56E59}" type="presParOf" srcId="{1215D400-6D68-4806-908B-C2D4753BC95A}" destId="{6F5B5243-7326-4808-9FA0-73D8A9B8D4E7}" srcOrd="4" destOrd="0" presId="urn:microsoft.com/office/officeart/2018/5/layout/IconCircleLabelList"/>
    <dgm:cxn modelId="{963626AE-F0B5-48A7-A26C-C512FF50BF47}" type="presParOf" srcId="{6F5B5243-7326-4808-9FA0-73D8A9B8D4E7}" destId="{F81C1D25-28BC-4E1B-83CB-73E437018173}" srcOrd="0" destOrd="0" presId="urn:microsoft.com/office/officeart/2018/5/layout/IconCircleLabelList"/>
    <dgm:cxn modelId="{4F67C9A3-4267-432A-8FCA-51C1B3839BEF}" type="presParOf" srcId="{6F5B5243-7326-4808-9FA0-73D8A9B8D4E7}" destId="{06B24244-3091-447B-8A9B-8A0679969CD1}" srcOrd="1" destOrd="0" presId="urn:microsoft.com/office/officeart/2018/5/layout/IconCircleLabelList"/>
    <dgm:cxn modelId="{342CAD10-87C3-4443-93DE-6D8B57947943}" type="presParOf" srcId="{6F5B5243-7326-4808-9FA0-73D8A9B8D4E7}" destId="{49814B0A-56AD-43F7-8A47-B4033D6755FB}" srcOrd="2" destOrd="0" presId="urn:microsoft.com/office/officeart/2018/5/layout/IconCircleLabelList"/>
    <dgm:cxn modelId="{74555776-500F-460E-9C3B-37C690098812}" type="presParOf" srcId="{6F5B5243-7326-4808-9FA0-73D8A9B8D4E7}" destId="{69AC0121-2C0A-49DC-A721-1B8B5EA3BC03}" srcOrd="3" destOrd="0" presId="urn:microsoft.com/office/officeart/2018/5/layout/IconCircleLabelList"/>
    <dgm:cxn modelId="{966DA2CC-2E14-4C61-95DC-AA5D09CCB66A}" type="presParOf" srcId="{1215D400-6D68-4806-908B-C2D4753BC95A}" destId="{657718C9-439D-44DE-B9B0-C6DDF0045554}" srcOrd="5" destOrd="0" presId="urn:microsoft.com/office/officeart/2018/5/layout/IconCircleLabelList"/>
    <dgm:cxn modelId="{E5D4F92B-DCA9-40C2-825B-3C211DB1C1B4}" type="presParOf" srcId="{1215D400-6D68-4806-908B-C2D4753BC95A}" destId="{297D38AD-86AD-49C5-8457-B0EE19D697D2}" srcOrd="6" destOrd="0" presId="urn:microsoft.com/office/officeart/2018/5/layout/IconCircleLabelList"/>
    <dgm:cxn modelId="{D56A254B-A1B0-4D05-B43F-6208441CF46D}" type="presParOf" srcId="{297D38AD-86AD-49C5-8457-B0EE19D697D2}" destId="{1DFBB965-8B76-45F6-99EB-A54EF1DDEB48}" srcOrd="0" destOrd="0" presId="urn:microsoft.com/office/officeart/2018/5/layout/IconCircleLabelList"/>
    <dgm:cxn modelId="{C074FB7C-6FD9-4360-89BF-62524AA74E2A}" type="presParOf" srcId="{297D38AD-86AD-49C5-8457-B0EE19D697D2}" destId="{7F51BA75-732E-4BB8-B1B7-64AEBA9EA0D6}" srcOrd="1" destOrd="0" presId="urn:microsoft.com/office/officeart/2018/5/layout/IconCircleLabelList"/>
    <dgm:cxn modelId="{B843CF0F-F64A-4DB8-99B9-2F53DF75AC80}" type="presParOf" srcId="{297D38AD-86AD-49C5-8457-B0EE19D697D2}" destId="{8AAF9D16-A8CE-4693-A724-ED484156A2C7}" srcOrd="2" destOrd="0" presId="urn:microsoft.com/office/officeart/2018/5/layout/IconCircleLabelList"/>
    <dgm:cxn modelId="{3507DDE1-7B12-4028-A1A1-1A47FB24D2AA}" type="presParOf" srcId="{297D38AD-86AD-49C5-8457-B0EE19D697D2}" destId="{26C0D3D3-AA43-4013-8DEF-26CD0BEF2B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09B972-7291-4BF3-B033-A6A7EFE765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59E022-4882-4577-8CF1-B282AF669601}">
      <dgm:prSet custT="1"/>
      <dgm:spPr/>
      <dgm:t>
        <a:bodyPr anchor="ctr"/>
        <a:lstStyle/>
        <a:p>
          <a:pPr algn="l"/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Hemos desarrollado un </a:t>
          </a:r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modelo capaz de adaptarse 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al comportamiento real del cliente.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651DD6-B62E-45DB-9536-BBB4D2B42C73}" type="parTrans" cxnId="{59611720-F2E3-4E1B-9C4E-A4F0D97F7523}">
      <dgm:prSet/>
      <dgm:spPr/>
      <dgm:t>
        <a:bodyPr/>
        <a:lstStyle/>
        <a:p>
          <a:endParaRPr lang="en-US" sz="1800"/>
        </a:p>
      </dgm:t>
    </dgm:pt>
    <dgm:pt modelId="{B17300E1-6B04-4E59-B0C9-106EE4B83920}" type="sibTrans" cxnId="{59611720-F2E3-4E1B-9C4E-A4F0D97F7523}">
      <dgm:prSet/>
      <dgm:spPr/>
      <dgm:t>
        <a:bodyPr/>
        <a:lstStyle/>
        <a:p>
          <a:endParaRPr lang="en-US" sz="1800"/>
        </a:p>
      </dgm:t>
    </dgm:pt>
    <dgm:pt modelId="{90B15E88-7129-4DF4-9463-FFA51D7F9D8D}">
      <dgm:prSet custT="1"/>
      <dgm:spPr/>
      <dgm:t>
        <a:bodyPr anchor="ctr"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Ajustamos el umbral de decisión al 70% para </a:t>
          </a:r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minimizar los falsos positivos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, priorizando en todo momento la reputación y el servicio del hotel.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FE920B-B3BF-465D-8E1A-B68B9CBF39CD}" type="parTrans" cxnId="{EEE1B13D-C136-44FA-A8BF-A14BBD7E06D7}">
      <dgm:prSet/>
      <dgm:spPr/>
      <dgm:t>
        <a:bodyPr/>
        <a:lstStyle/>
        <a:p>
          <a:endParaRPr lang="en-US" sz="1800"/>
        </a:p>
      </dgm:t>
    </dgm:pt>
    <dgm:pt modelId="{552DBA12-25AC-4B9E-80E9-34545C38259C}" type="sibTrans" cxnId="{EEE1B13D-C136-44FA-A8BF-A14BBD7E06D7}">
      <dgm:prSet/>
      <dgm:spPr/>
      <dgm:t>
        <a:bodyPr/>
        <a:lstStyle/>
        <a:p>
          <a:endParaRPr lang="en-US" sz="1800"/>
        </a:p>
      </dgm:t>
    </dgm:pt>
    <dgm:pt modelId="{60D1A811-8252-4136-9A7D-F866BC3A9F42}">
      <dgm:prSet custT="1"/>
      <dgm:spPr/>
      <dgm:t>
        <a:bodyPr anchor="ctr"/>
        <a:lstStyle/>
        <a:p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Estrategias de overbooking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: Compensamos esta precaución utilizando nuestra estimación de falsos negativos. Esto nos permite calcular estadísticamente cuántas habitaciones extra podemos vender de forma segura para maximizar la ocupación.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294410-E37C-40B5-8D2A-0CB76690B7C9}" type="parTrans" cxnId="{7A651FFC-1E43-4274-82BD-C0C0D529D316}">
      <dgm:prSet/>
      <dgm:spPr/>
      <dgm:t>
        <a:bodyPr/>
        <a:lstStyle/>
        <a:p>
          <a:endParaRPr lang="en-US" sz="1800"/>
        </a:p>
      </dgm:t>
    </dgm:pt>
    <dgm:pt modelId="{F7775155-B22F-4122-9323-2712379F9070}" type="sibTrans" cxnId="{7A651FFC-1E43-4274-82BD-C0C0D529D316}">
      <dgm:prSet/>
      <dgm:spPr/>
      <dgm:t>
        <a:bodyPr/>
        <a:lstStyle/>
        <a:p>
          <a:endParaRPr lang="en-US" sz="1800"/>
        </a:p>
      </dgm:t>
    </dgm:pt>
    <dgm:pt modelId="{81592C03-8EC5-4ED3-B521-D39A32AF2DB1}">
      <dgm:prSet custT="1"/>
      <dgm:spPr/>
      <dgm:t>
        <a:bodyPr anchor="ctr"/>
        <a:lstStyle/>
        <a:p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Creamos perfiles fiables y de riesgo, </a:t>
          </a:r>
          <a:r>
            <a:rPr lang="es-ES" sz="1800" b="0" dirty="0">
              <a:latin typeface="Arial" panose="020B0604020202020204" pitchFamily="34" charset="0"/>
              <a:cs typeface="Arial" panose="020B0604020202020204" pitchFamily="34" charset="0"/>
            </a:rPr>
            <a:t>para hacer estrategias de atracción.</a:t>
          </a:r>
          <a:endParaRPr lang="en-US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F5B7C5-385B-4A81-985B-2AA005F74FB6}" type="parTrans" cxnId="{6C014E53-F744-4A93-B1B1-063706EA5C93}">
      <dgm:prSet/>
      <dgm:spPr/>
      <dgm:t>
        <a:bodyPr/>
        <a:lstStyle/>
        <a:p>
          <a:endParaRPr lang="en-US" sz="1800"/>
        </a:p>
      </dgm:t>
    </dgm:pt>
    <dgm:pt modelId="{BB11BE28-AC73-4C21-9B4A-DCA74958F2AE}" type="sibTrans" cxnId="{6C014E53-F744-4A93-B1B1-063706EA5C93}">
      <dgm:prSet/>
      <dgm:spPr/>
      <dgm:t>
        <a:bodyPr/>
        <a:lstStyle/>
        <a:p>
          <a:endParaRPr lang="en-US" sz="1800"/>
        </a:p>
      </dgm:t>
    </dgm:pt>
    <dgm:pt modelId="{583313E2-9D92-944A-9E2F-95EBA4E09D88}" type="pres">
      <dgm:prSet presAssocID="{1909B972-7291-4BF3-B033-A6A7EFE76558}" presName="vert0" presStyleCnt="0">
        <dgm:presLayoutVars>
          <dgm:dir/>
          <dgm:animOne val="branch"/>
          <dgm:animLvl val="lvl"/>
        </dgm:presLayoutVars>
      </dgm:prSet>
      <dgm:spPr/>
    </dgm:pt>
    <dgm:pt modelId="{E504F90E-BCD2-184A-B7DB-6886CAEC1873}" type="pres">
      <dgm:prSet presAssocID="{E459E022-4882-4577-8CF1-B282AF669601}" presName="thickLine" presStyleLbl="alignNode1" presStyleIdx="0" presStyleCnt="4"/>
      <dgm:spPr/>
    </dgm:pt>
    <dgm:pt modelId="{4D6ECD5F-1562-DA41-A591-1CD513C6B5BE}" type="pres">
      <dgm:prSet presAssocID="{E459E022-4882-4577-8CF1-B282AF669601}" presName="horz1" presStyleCnt="0"/>
      <dgm:spPr/>
    </dgm:pt>
    <dgm:pt modelId="{789EAB82-4A97-914A-8BB2-37849D11CF9E}" type="pres">
      <dgm:prSet presAssocID="{E459E022-4882-4577-8CF1-B282AF669601}" presName="tx1" presStyleLbl="revTx" presStyleIdx="0" presStyleCnt="4"/>
      <dgm:spPr/>
    </dgm:pt>
    <dgm:pt modelId="{0C17F1DA-FA50-D544-BB4C-6B31483B9184}" type="pres">
      <dgm:prSet presAssocID="{E459E022-4882-4577-8CF1-B282AF669601}" presName="vert1" presStyleCnt="0"/>
      <dgm:spPr/>
    </dgm:pt>
    <dgm:pt modelId="{58B0EB88-D266-3346-83A0-CC11D32CEE76}" type="pres">
      <dgm:prSet presAssocID="{81592C03-8EC5-4ED3-B521-D39A32AF2DB1}" presName="thickLine" presStyleLbl="alignNode1" presStyleIdx="1" presStyleCnt="4"/>
      <dgm:spPr/>
    </dgm:pt>
    <dgm:pt modelId="{79B99460-B74E-254B-AB07-76C8276F250F}" type="pres">
      <dgm:prSet presAssocID="{81592C03-8EC5-4ED3-B521-D39A32AF2DB1}" presName="horz1" presStyleCnt="0"/>
      <dgm:spPr/>
    </dgm:pt>
    <dgm:pt modelId="{7C1FAAF1-49A3-774E-95C0-1FFF5D4EB4AA}" type="pres">
      <dgm:prSet presAssocID="{81592C03-8EC5-4ED3-B521-D39A32AF2DB1}" presName="tx1" presStyleLbl="revTx" presStyleIdx="1" presStyleCnt="4"/>
      <dgm:spPr/>
    </dgm:pt>
    <dgm:pt modelId="{DA6B0091-9756-A74B-BB2D-DE75B3EC3661}" type="pres">
      <dgm:prSet presAssocID="{81592C03-8EC5-4ED3-B521-D39A32AF2DB1}" presName="vert1" presStyleCnt="0"/>
      <dgm:spPr/>
    </dgm:pt>
    <dgm:pt modelId="{C5AC4FC1-D184-DC45-92A5-1F674BEB65F5}" type="pres">
      <dgm:prSet presAssocID="{90B15E88-7129-4DF4-9463-FFA51D7F9D8D}" presName="thickLine" presStyleLbl="alignNode1" presStyleIdx="2" presStyleCnt="4"/>
      <dgm:spPr/>
    </dgm:pt>
    <dgm:pt modelId="{7897D7C8-B8BE-B54D-A69D-C7A36EAE6C73}" type="pres">
      <dgm:prSet presAssocID="{90B15E88-7129-4DF4-9463-FFA51D7F9D8D}" presName="horz1" presStyleCnt="0"/>
      <dgm:spPr/>
    </dgm:pt>
    <dgm:pt modelId="{3E0DE91A-3DB1-1A42-86E9-CF398A4886D4}" type="pres">
      <dgm:prSet presAssocID="{90B15E88-7129-4DF4-9463-FFA51D7F9D8D}" presName="tx1" presStyleLbl="revTx" presStyleIdx="2" presStyleCnt="4"/>
      <dgm:spPr/>
    </dgm:pt>
    <dgm:pt modelId="{CC0FFBA7-A0BF-164D-AA52-CA82BD0288BD}" type="pres">
      <dgm:prSet presAssocID="{90B15E88-7129-4DF4-9463-FFA51D7F9D8D}" presName="vert1" presStyleCnt="0"/>
      <dgm:spPr/>
    </dgm:pt>
    <dgm:pt modelId="{09A49DC6-1F84-0946-9B64-44BDDDAA6B07}" type="pres">
      <dgm:prSet presAssocID="{60D1A811-8252-4136-9A7D-F866BC3A9F42}" presName="thickLine" presStyleLbl="alignNode1" presStyleIdx="3" presStyleCnt="4"/>
      <dgm:spPr/>
    </dgm:pt>
    <dgm:pt modelId="{5B0FF1FF-F96A-0C43-B11C-85485783E083}" type="pres">
      <dgm:prSet presAssocID="{60D1A811-8252-4136-9A7D-F866BC3A9F42}" presName="horz1" presStyleCnt="0"/>
      <dgm:spPr/>
    </dgm:pt>
    <dgm:pt modelId="{195AE255-6B36-814D-82EF-19D0A69988D4}" type="pres">
      <dgm:prSet presAssocID="{60D1A811-8252-4136-9A7D-F866BC3A9F42}" presName="tx1" presStyleLbl="revTx" presStyleIdx="3" presStyleCnt="4"/>
      <dgm:spPr/>
    </dgm:pt>
    <dgm:pt modelId="{7BADE4FB-A550-8745-A181-2EBCF05C6C3B}" type="pres">
      <dgm:prSet presAssocID="{60D1A811-8252-4136-9A7D-F866BC3A9F42}" presName="vert1" presStyleCnt="0"/>
      <dgm:spPr/>
    </dgm:pt>
  </dgm:ptLst>
  <dgm:cxnLst>
    <dgm:cxn modelId="{59611720-F2E3-4E1B-9C4E-A4F0D97F7523}" srcId="{1909B972-7291-4BF3-B033-A6A7EFE76558}" destId="{E459E022-4882-4577-8CF1-B282AF669601}" srcOrd="0" destOrd="0" parTransId="{A5651DD6-B62E-45DB-9536-BBB4D2B42C73}" sibTransId="{B17300E1-6B04-4E59-B0C9-106EE4B83920}"/>
    <dgm:cxn modelId="{EEE1B13D-C136-44FA-A8BF-A14BBD7E06D7}" srcId="{1909B972-7291-4BF3-B033-A6A7EFE76558}" destId="{90B15E88-7129-4DF4-9463-FFA51D7F9D8D}" srcOrd="2" destOrd="0" parTransId="{22FE920B-B3BF-465D-8E1A-B68B9CBF39CD}" sibTransId="{552DBA12-25AC-4B9E-80E9-34545C38259C}"/>
    <dgm:cxn modelId="{46CAC350-B386-5B4D-B844-01AB970DD48D}" type="presOf" srcId="{E459E022-4882-4577-8CF1-B282AF669601}" destId="{789EAB82-4A97-914A-8BB2-37849D11CF9E}" srcOrd="0" destOrd="0" presId="urn:microsoft.com/office/officeart/2008/layout/LinedList"/>
    <dgm:cxn modelId="{6C014E53-F744-4A93-B1B1-063706EA5C93}" srcId="{1909B972-7291-4BF3-B033-A6A7EFE76558}" destId="{81592C03-8EC5-4ED3-B521-D39A32AF2DB1}" srcOrd="1" destOrd="0" parTransId="{D5F5B7C5-385B-4A81-985B-2AA005F74FB6}" sibTransId="{BB11BE28-AC73-4C21-9B4A-DCA74958F2AE}"/>
    <dgm:cxn modelId="{324BB566-D4C2-CC44-858C-40265FEF9D9D}" type="presOf" srcId="{60D1A811-8252-4136-9A7D-F866BC3A9F42}" destId="{195AE255-6B36-814D-82EF-19D0A69988D4}" srcOrd="0" destOrd="0" presId="urn:microsoft.com/office/officeart/2008/layout/LinedList"/>
    <dgm:cxn modelId="{AD39206F-DC3F-2A4F-BF1B-6546A673ED45}" type="presOf" srcId="{81592C03-8EC5-4ED3-B521-D39A32AF2DB1}" destId="{7C1FAAF1-49A3-774E-95C0-1FFF5D4EB4AA}" srcOrd="0" destOrd="0" presId="urn:microsoft.com/office/officeart/2008/layout/LinedList"/>
    <dgm:cxn modelId="{A24438C0-E8FF-DF41-A408-A3364A132BE1}" type="presOf" srcId="{90B15E88-7129-4DF4-9463-FFA51D7F9D8D}" destId="{3E0DE91A-3DB1-1A42-86E9-CF398A4886D4}" srcOrd="0" destOrd="0" presId="urn:microsoft.com/office/officeart/2008/layout/LinedList"/>
    <dgm:cxn modelId="{EB2793C1-FE8F-D94C-AF64-0CDA88550A0F}" type="presOf" srcId="{1909B972-7291-4BF3-B033-A6A7EFE76558}" destId="{583313E2-9D92-944A-9E2F-95EBA4E09D88}" srcOrd="0" destOrd="0" presId="urn:microsoft.com/office/officeart/2008/layout/LinedList"/>
    <dgm:cxn modelId="{7A651FFC-1E43-4274-82BD-C0C0D529D316}" srcId="{1909B972-7291-4BF3-B033-A6A7EFE76558}" destId="{60D1A811-8252-4136-9A7D-F866BC3A9F42}" srcOrd="3" destOrd="0" parTransId="{65294410-E37C-40B5-8D2A-0CB76690B7C9}" sibTransId="{F7775155-B22F-4122-9323-2712379F9070}"/>
    <dgm:cxn modelId="{726FFAC1-4701-0144-87DB-495CB550D52C}" type="presParOf" srcId="{583313E2-9D92-944A-9E2F-95EBA4E09D88}" destId="{E504F90E-BCD2-184A-B7DB-6886CAEC1873}" srcOrd="0" destOrd="0" presId="urn:microsoft.com/office/officeart/2008/layout/LinedList"/>
    <dgm:cxn modelId="{3F027EAD-103E-CD4B-9E8D-8A4524AFF542}" type="presParOf" srcId="{583313E2-9D92-944A-9E2F-95EBA4E09D88}" destId="{4D6ECD5F-1562-DA41-A591-1CD513C6B5BE}" srcOrd="1" destOrd="0" presId="urn:microsoft.com/office/officeart/2008/layout/LinedList"/>
    <dgm:cxn modelId="{C388561C-F9C6-FA43-ABA2-543C913A1629}" type="presParOf" srcId="{4D6ECD5F-1562-DA41-A591-1CD513C6B5BE}" destId="{789EAB82-4A97-914A-8BB2-37849D11CF9E}" srcOrd="0" destOrd="0" presId="urn:microsoft.com/office/officeart/2008/layout/LinedList"/>
    <dgm:cxn modelId="{AD485A7E-7D3C-F645-816B-05CA5E45EBEF}" type="presParOf" srcId="{4D6ECD5F-1562-DA41-A591-1CD513C6B5BE}" destId="{0C17F1DA-FA50-D544-BB4C-6B31483B9184}" srcOrd="1" destOrd="0" presId="urn:microsoft.com/office/officeart/2008/layout/LinedList"/>
    <dgm:cxn modelId="{8AE93E89-029B-D642-982E-103D93368F9E}" type="presParOf" srcId="{583313E2-9D92-944A-9E2F-95EBA4E09D88}" destId="{58B0EB88-D266-3346-83A0-CC11D32CEE76}" srcOrd="2" destOrd="0" presId="urn:microsoft.com/office/officeart/2008/layout/LinedList"/>
    <dgm:cxn modelId="{D6AD28ED-76B5-0A4D-94EC-23AA49230015}" type="presParOf" srcId="{583313E2-9D92-944A-9E2F-95EBA4E09D88}" destId="{79B99460-B74E-254B-AB07-76C8276F250F}" srcOrd="3" destOrd="0" presId="urn:microsoft.com/office/officeart/2008/layout/LinedList"/>
    <dgm:cxn modelId="{E91A07AF-4488-574B-8187-13AC48F92CF0}" type="presParOf" srcId="{79B99460-B74E-254B-AB07-76C8276F250F}" destId="{7C1FAAF1-49A3-774E-95C0-1FFF5D4EB4AA}" srcOrd="0" destOrd="0" presId="urn:microsoft.com/office/officeart/2008/layout/LinedList"/>
    <dgm:cxn modelId="{E7AFDE26-EA49-FB45-8002-F2A7D393EE49}" type="presParOf" srcId="{79B99460-B74E-254B-AB07-76C8276F250F}" destId="{DA6B0091-9756-A74B-BB2D-DE75B3EC3661}" srcOrd="1" destOrd="0" presId="urn:microsoft.com/office/officeart/2008/layout/LinedList"/>
    <dgm:cxn modelId="{8123C973-ACDF-0448-B228-1788FE49885E}" type="presParOf" srcId="{583313E2-9D92-944A-9E2F-95EBA4E09D88}" destId="{C5AC4FC1-D184-DC45-92A5-1F674BEB65F5}" srcOrd="4" destOrd="0" presId="urn:microsoft.com/office/officeart/2008/layout/LinedList"/>
    <dgm:cxn modelId="{DA3CA2B3-587E-4A4C-8701-0ED587CBB056}" type="presParOf" srcId="{583313E2-9D92-944A-9E2F-95EBA4E09D88}" destId="{7897D7C8-B8BE-B54D-A69D-C7A36EAE6C73}" srcOrd="5" destOrd="0" presId="urn:microsoft.com/office/officeart/2008/layout/LinedList"/>
    <dgm:cxn modelId="{43670BFD-3E4E-8241-AB14-BA44BE88BEEF}" type="presParOf" srcId="{7897D7C8-B8BE-B54D-A69D-C7A36EAE6C73}" destId="{3E0DE91A-3DB1-1A42-86E9-CF398A4886D4}" srcOrd="0" destOrd="0" presId="urn:microsoft.com/office/officeart/2008/layout/LinedList"/>
    <dgm:cxn modelId="{62A32CF6-FCFA-0C4F-97D4-3F77F432A66C}" type="presParOf" srcId="{7897D7C8-B8BE-B54D-A69D-C7A36EAE6C73}" destId="{CC0FFBA7-A0BF-164D-AA52-CA82BD0288BD}" srcOrd="1" destOrd="0" presId="urn:microsoft.com/office/officeart/2008/layout/LinedList"/>
    <dgm:cxn modelId="{7A8FBB21-4EA8-FF4E-809A-9E2627A00E32}" type="presParOf" srcId="{583313E2-9D92-944A-9E2F-95EBA4E09D88}" destId="{09A49DC6-1F84-0946-9B64-44BDDDAA6B07}" srcOrd="6" destOrd="0" presId="urn:microsoft.com/office/officeart/2008/layout/LinedList"/>
    <dgm:cxn modelId="{7C27C5DE-18B1-EB4D-A350-866EB9821FA9}" type="presParOf" srcId="{583313E2-9D92-944A-9E2F-95EBA4E09D88}" destId="{5B0FF1FF-F96A-0C43-B11C-85485783E083}" srcOrd="7" destOrd="0" presId="urn:microsoft.com/office/officeart/2008/layout/LinedList"/>
    <dgm:cxn modelId="{EC565428-3441-154E-A7B5-DB2C09081BD8}" type="presParOf" srcId="{5B0FF1FF-F96A-0C43-B11C-85485783E083}" destId="{195AE255-6B36-814D-82EF-19D0A69988D4}" srcOrd="0" destOrd="0" presId="urn:microsoft.com/office/officeart/2008/layout/LinedList"/>
    <dgm:cxn modelId="{71646C18-5514-E249-919E-9B3AD81FCF06}" type="presParOf" srcId="{5B0FF1FF-F96A-0C43-B11C-85485783E083}" destId="{7BADE4FB-A550-8745-A181-2EBCF05C6C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E7FD9B-3264-42CF-BDC5-3A382E6D85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5D8D23-0C1A-40A0-850C-2FD00366D0F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Incluir nuevas variables de estudio para poder predecir mejor la tasa de cancelación de los clientes.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54B9BF-EFAC-4514-88A2-7EF2C13EFF2E}" type="parTrans" cxnId="{52B58D7E-0DF1-481B-A209-A03F8F7B903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110D15-DA62-440F-92C5-48DB2C419937}" type="sibTrans" cxnId="{52B58D7E-0DF1-481B-A209-A03F8F7B903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7848B5-BDD4-4941-A383-C2F2B49A216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Recoger más datos para poder ver diferentes tendencias según épocas del año y poder afinar más el overbooking.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A16DB-4793-47A3-BDCB-A42B118A97C9}" type="parTrans" cxnId="{50B741D3-C4E3-476D-8776-90DCA7917C0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BA6916-C01F-4AA5-962F-0CEF49BFC72A}" type="sibTrans" cxnId="{50B741D3-C4E3-476D-8776-90DCA7917C0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37E7E0-EFB3-8F40-B005-59E272A761D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Propuestas de campañas de marketing concretas, basadas en las características particulares de cada individuo.</a:t>
          </a:r>
        </a:p>
      </dgm:t>
    </dgm:pt>
    <dgm:pt modelId="{C9F55991-FF2A-9443-9845-312A06A16906}" type="parTrans" cxnId="{99058B48-170D-0C4F-B3D0-2415A478E0DF}">
      <dgm:prSet/>
      <dgm:spPr/>
      <dgm:t>
        <a:bodyPr/>
        <a:lstStyle/>
        <a:p>
          <a:endParaRPr lang="es-ES"/>
        </a:p>
      </dgm:t>
    </dgm:pt>
    <dgm:pt modelId="{F42FB96F-3F1F-634D-81CE-74BD28A4959F}" type="sibTrans" cxnId="{99058B48-170D-0C4F-B3D0-2415A478E0DF}">
      <dgm:prSet/>
      <dgm:spPr/>
      <dgm:t>
        <a:bodyPr/>
        <a:lstStyle/>
        <a:p>
          <a:endParaRPr lang="es-ES"/>
        </a:p>
      </dgm:t>
    </dgm:pt>
    <dgm:pt modelId="{033F1819-61E3-4E47-A233-D22BA20EA977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Incluir un </a:t>
          </a:r>
          <a:r>
            <a:rPr lang="es-ES" dirty="0" err="1">
              <a:latin typeface="Arial" panose="020B0604020202020204" pitchFamily="34" charset="0"/>
              <a:cs typeface="Arial" panose="020B0604020202020204" pitchFamily="34" charset="0"/>
            </a:rPr>
            <a:t>chatbot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 para automatizar la detección de clientes propensos a cancelar y que genere el overbooking óptimo.</a:t>
          </a:r>
        </a:p>
      </dgm:t>
    </dgm:pt>
    <dgm:pt modelId="{62693C42-7C8D-4554-A21B-EA723925083A}" type="parTrans" cxnId="{C8777E21-4A98-4DC8-A454-35EC6DB0F776}">
      <dgm:prSet/>
      <dgm:spPr/>
      <dgm:t>
        <a:bodyPr/>
        <a:lstStyle/>
        <a:p>
          <a:endParaRPr lang="es-ES"/>
        </a:p>
      </dgm:t>
    </dgm:pt>
    <dgm:pt modelId="{C0F76E69-8776-4210-9F36-85A183FC0C8C}" type="sibTrans" cxnId="{C8777E21-4A98-4DC8-A454-35EC6DB0F776}">
      <dgm:prSet/>
      <dgm:spPr/>
      <dgm:t>
        <a:bodyPr/>
        <a:lstStyle/>
        <a:p>
          <a:endParaRPr lang="es-ES"/>
        </a:p>
      </dgm:t>
    </dgm:pt>
    <dgm:pt modelId="{1E565B86-ED15-4AE2-9B52-C7E703AF9F2E}" type="pres">
      <dgm:prSet presAssocID="{07E7FD9B-3264-42CF-BDC5-3A382E6D85DB}" presName="root" presStyleCnt="0">
        <dgm:presLayoutVars>
          <dgm:dir/>
          <dgm:resizeHandles val="exact"/>
        </dgm:presLayoutVars>
      </dgm:prSet>
      <dgm:spPr/>
    </dgm:pt>
    <dgm:pt modelId="{84A6C9C0-AC6A-4544-81F6-43245DB4EA71}" type="pres">
      <dgm:prSet presAssocID="{F25D8D23-0C1A-40A0-850C-2FD00366D0FC}" presName="compNode" presStyleCnt="0"/>
      <dgm:spPr/>
    </dgm:pt>
    <dgm:pt modelId="{120F6D36-57F7-4DC2-B35F-BEADE585BD94}" type="pres">
      <dgm:prSet presAssocID="{F25D8D23-0C1A-40A0-850C-2FD00366D0FC}" presName="bgRect" presStyleLbl="bgShp" presStyleIdx="0" presStyleCnt="4"/>
      <dgm:spPr/>
    </dgm:pt>
    <dgm:pt modelId="{8AE4D579-FCA2-4D3D-B54E-67A8336DA250}" type="pres">
      <dgm:prSet presAssocID="{F25D8D23-0C1A-40A0-850C-2FD00366D0F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BE74ED77-BB49-4EE3-B365-5E2CA1217D76}" type="pres">
      <dgm:prSet presAssocID="{F25D8D23-0C1A-40A0-850C-2FD00366D0FC}" presName="spaceRect" presStyleCnt="0"/>
      <dgm:spPr/>
    </dgm:pt>
    <dgm:pt modelId="{BF1B4E27-F3FC-4FE8-9C3B-B19E3ECFD901}" type="pres">
      <dgm:prSet presAssocID="{F25D8D23-0C1A-40A0-850C-2FD00366D0FC}" presName="parTx" presStyleLbl="revTx" presStyleIdx="0" presStyleCnt="4">
        <dgm:presLayoutVars>
          <dgm:chMax val="0"/>
          <dgm:chPref val="0"/>
        </dgm:presLayoutVars>
      </dgm:prSet>
      <dgm:spPr/>
    </dgm:pt>
    <dgm:pt modelId="{55DFE72A-F6DC-1143-AD2A-6334AB94D12F}" type="pres">
      <dgm:prSet presAssocID="{5D110D15-DA62-440F-92C5-48DB2C419937}" presName="sibTrans" presStyleCnt="0"/>
      <dgm:spPr/>
    </dgm:pt>
    <dgm:pt modelId="{D9C96869-6D90-45FC-A0F8-CC5ECCC3972C}" type="pres">
      <dgm:prSet presAssocID="{D17848B5-BDD4-4941-A383-C2F2B49A2164}" presName="compNode" presStyleCnt="0"/>
      <dgm:spPr/>
    </dgm:pt>
    <dgm:pt modelId="{2FC999F8-17CA-4540-A1E2-953783EB1C39}" type="pres">
      <dgm:prSet presAssocID="{D17848B5-BDD4-4941-A383-C2F2B49A2164}" presName="bgRect" presStyleLbl="bgShp" presStyleIdx="1" presStyleCnt="4"/>
      <dgm:spPr/>
    </dgm:pt>
    <dgm:pt modelId="{524C60F3-384B-4220-8B7F-1BB4CC4968AD}" type="pres">
      <dgm:prSet presAssocID="{D17848B5-BDD4-4941-A383-C2F2B49A216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FD18A2C-7717-4379-862C-6DD54785D335}" type="pres">
      <dgm:prSet presAssocID="{D17848B5-BDD4-4941-A383-C2F2B49A2164}" presName="spaceRect" presStyleCnt="0"/>
      <dgm:spPr/>
    </dgm:pt>
    <dgm:pt modelId="{64B7CD44-D039-4E6E-9901-22C5DBC797BF}" type="pres">
      <dgm:prSet presAssocID="{D17848B5-BDD4-4941-A383-C2F2B49A2164}" presName="parTx" presStyleLbl="revTx" presStyleIdx="1" presStyleCnt="4">
        <dgm:presLayoutVars>
          <dgm:chMax val="0"/>
          <dgm:chPref val="0"/>
        </dgm:presLayoutVars>
      </dgm:prSet>
      <dgm:spPr/>
    </dgm:pt>
    <dgm:pt modelId="{F7C06CEC-1726-9045-A545-C1EB1F7FF3BA}" type="pres">
      <dgm:prSet presAssocID="{35BA6916-C01F-4AA5-962F-0CEF49BFC72A}" presName="sibTrans" presStyleCnt="0"/>
      <dgm:spPr/>
    </dgm:pt>
    <dgm:pt modelId="{5DCC59A2-9D54-4AEC-8DA8-01DA315EA22A}" type="pres">
      <dgm:prSet presAssocID="{033F1819-61E3-4E47-A233-D22BA20EA977}" presName="compNode" presStyleCnt="0"/>
      <dgm:spPr/>
    </dgm:pt>
    <dgm:pt modelId="{1DC63141-C79D-45DE-9100-88EAB49062E7}" type="pres">
      <dgm:prSet presAssocID="{033F1819-61E3-4E47-A233-D22BA20EA977}" presName="bgRect" presStyleLbl="bgShp" presStyleIdx="2" presStyleCnt="4"/>
      <dgm:spPr/>
    </dgm:pt>
    <dgm:pt modelId="{8162AC4F-C660-46A7-BD01-4236CE8EF074}" type="pres">
      <dgm:prSet presAssocID="{033F1819-61E3-4E47-A233-D22BA20EA977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luyente con relleno sólido"/>
        </a:ext>
      </dgm:extLst>
    </dgm:pt>
    <dgm:pt modelId="{BBE24440-4786-48C1-ADE1-907ADC25FA6E}" type="pres">
      <dgm:prSet presAssocID="{033F1819-61E3-4E47-A233-D22BA20EA977}" presName="spaceRect" presStyleCnt="0"/>
      <dgm:spPr/>
    </dgm:pt>
    <dgm:pt modelId="{66EE852C-57F2-468A-8681-12BD7BEB4A21}" type="pres">
      <dgm:prSet presAssocID="{033F1819-61E3-4E47-A233-D22BA20EA977}" presName="parTx" presStyleLbl="revTx" presStyleIdx="2" presStyleCnt="4">
        <dgm:presLayoutVars>
          <dgm:chMax val="0"/>
          <dgm:chPref val="0"/>
        </dgm:presLayoutVars>
      </dgm:prSet>
      <dgm:spPr/>
    </dgm:pt>
    <dgm:pt modelId="{F2EC825C-B4C5-41DB-8BBD-DD96D9AFE78E}" type="pres">
      <dgm:prSet presAssocID="{C0F76E69-8776-4210-9F36-85A183FC0C8C}" presName="sibTrans" presStyleCnt="0"/>
      <dgm:spPr/>
    </dgm:pt>
    <dgm:pt modelId="{EE45521F-B3BD-3C44-BE69-827FC7B809CE}" type="pres">
      <dgm:prSet presAssocID="{4537E7E0-EFB3-8F40-B005-59E272A761D8}" presName="compNode" presStyleCnt="0"/>
      <dgm:spPr/>
    </dgm:pt>
    <dgm:pt modelId="{D8A89BB3-8817-5446-9189-00A82D9F724F}" type="pres">
      <dgm:prSet presAssocID="{4537E7E0-EFB3-8F40-B005-59E272A761D8}" presName="bgRect" presStyleLbl="bgShp" presStyleIdx="3" presStyleCnt="4"/>
      <dgm:spPr/>
    </dgm:pt>
    <dgm:pt modelId="{2CB0645A-7C44-9146-AF9E-B3E7B5B3EC3B}" type="pres">
      <dgm:prSet presAssocID="{4537E7E0-EFB3-8F40-B005-59E272A761D8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áfico de barras con tendencia alcista con relleno sólido"/>
        </a:ext>
      </dgm:extLst>
    </dgm:pt>
    <dgm:pt modelId="{04CE6B40-C688-0447-AD2A-23B14260F1E7}" type="pres">
      <dgm:prSet presAssocID="{4537E7E0-EFB3-8F40-B005-59E272A761D8}" presName="spaceRect" presStyleCnt="0"/>
      <dgm:spPr/>
    </dgm:pt>
    <dgm:pt modelId="{8030AD0D-0272-DD4B-991C-8FAEBA670610}" type="pres">
      <dgm:prSet presAssocID="{4537E7E0-EFB3-8F40-B005-59E272A761D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6302202-05BB-1748-9034-539AB086C242}" type="presOf" srcId="{4537E7E0-EFB3-8F40-B005-59E272A761D8}" destId="{8030AD0D-0272-DD4B-991C-8FAEBA670610}" srcOrd="0" destOrd="0" presId="urn:microsoft.com/office/officeart/2018/2/layout/IconVerticalSolidList"/>
    <dgm:cxn modelId="{C8777E21-4A98-4DC8-A454-35EC6DB0F776}" srcId="{07E7FD9B-3264-42CF-BDC5-3A382E6D85DB}" destId="{033F1819-61E3-4E47-A233-D22BA20EA977}" srcOrd="2" destOrd="0" parTransId="{62693C42-7C8D-4554-A21B-EA723925083A}" sibTransId="{C0F76E69-8776-4210-9F36-85A183FC0C8C}"/>
    <dgm:cxn modelId="{99058B48-170D-0C4F-B3D0-2415A478E0DF}" srcId="{07E7FD9B-3264-42CF-BDC5-3A382E6D85DB}" destId="{4537E7E0-EFB3-8F40-B005-59E272A761D8}" srcOrd="3" destOrd="0" parTransId="{C9F55991-FF2A-9443-9845-312A06A16906}" sibTransId="{F42FB96F-3F1F-634D-81CE-74BD28A4959F}"/>
    <dgm:cxn modelId="{BBF3236B-0F5C-42DB-8EDC-FF3F308845CC}" type="presOf" srcId="{033F1819-61E3-4E47-A233-D22BA20EA977}" destId="{66EE852C-57F2-468A-8681-12BD7BEB4A21}" srcOrd="0" destOrd="0" presId="urn:microsoft.com/office/officeart/2018/2/layout/IconVerticalSolidList"/>
    <dgm:cxn modelId="{52B58D7E-0DF1-481B-A209-A03F8F7B9038}" srcId="{07E7FD9B-3264-42CF-BDC5-3A382E6D85DB}" destId="{F25D8D23-0C1A-40A0-850C-2FD00366D0FC}" srcOrd="0" destOrd="0" parTransId="{CD54B9BF-EFAC-4514-88A2-7EF2C13EFF2E}" sibTransId="{5D110D15-DA62-440F-92C5-48DB2C419937}"/>
    <dgm:cxn modelId="{162D648A-6E9A-FA40-B812-4323ED2778B4}" type="presOf" srcId="{F25D8D23-0C1A-40A0-850C-2FD00366D0FC}" destId="{BF1B4E27-F3FC-4FE8-9C3B-B19E3ECFD901}" srcOrd="0" destOrd="0" presId="urn:microsoft.com/office/officeart/2018/2/layout/IconVerticalSolidList"/>
    <dgm:cxn modelId="{21A6FCC3-8A49-1B49-B87C-94212D5B0F9F}" type="presOf" srcId="{D17848B5-BDD4-4941-A383-C2F2B49A2164}" destId="{64B7CD44-D039-4E6E-9901-22C5DBC797BF}" srcOrd="0" destOrd="0" presId="urn:microsoft.com/office/officeart/2018/2/layout/IconVerticalSolidList"/>
    <dgm:cxn modelId="{7A2522CF-E696-448D-927F-6DB294C15357}" type="presOf" srcId="{07E7FD9B-3264-42CF-BDC5-3A382E6D85DB}" destId="{1E565B86-ED15-4AE2-9B52-C7E703AF9F2E}" srcOrd="0" destOrd="0" presId="urn:microsoft.com/office/officeart/2018/2/layout/IconVerticalSolidList"/>
    <dgm:cxn modelId="{50B741D3-C4E3-476D-8776-90DCA7917C04}" srcId="{07E7FD9B-3264-42CF-BDC5-3A382E6D85DB}" destId="{D17848B5-BDD4-4941-A383-C2F2B49A2164}" srcOrd="1" destOrd="0" parTransId="{83BA16DB-4793-47A3-BDCB-A42B118A97C9}" sibTransId="{35BA6916-C01F-4AA5-962F-0CEF49BFC72A}"/>
    <dgm:cxn modelId="{81B83366-7C26-6E4D-AF22-D0AA244CC267}" type="presParOf" srcId="{1E565B86-ED15-4AE2-9B52-C7E703AF9F2E}" destId="{84A6C9C0-AC6A-4544-81F6-43245DB4EA71}" srcOrd="0" destOrd="0" presId="urn:microsoft.com/office/officeart/2018/2/layout/IconVerticalSolidList"/>
    <dgm:cxn modelId="{3D243099-632A-5044-96F2-CEC4F05B9811}" type="presParOf" srcId="{84A6C9C0-AC6A-4544-81F6-43245DB4EA71}" destId="{120F6D36-57F7-4DC2-B35F-BEADE585BD94}" srcOrd="0" destOrd="0" presId="urn:microsoft.com/office/officeart/2018/2/layout/IconVerticalSolidList"/>
    <dgm:cxn modelId="{BF729E2C-D960-1A4A-8003-3EABC09A752E}" type="presParOf" srcId="{84A6C9C0-AC6A-4544-81F6-43245DB4EA71}" destId="{8AE4D579-FCA2-4D3D-B54E-67A8336DA250}" srcOrd="1" destOrd="0" presId="urn:microsoft.com/office/officeart/2018/2/layout/IconVerticalSolidList"/>
    <dgm:cxn modelId="{A700556B-F46D-634F-ACAD-E1EC2DB02823}" type="presParOf" srcId="{84A6C9C0-AC6A-4544-81F6-43245DB4EA71}" destId="{BE74ED77-BB49-4EE3-B365-5E2CA1217D76}" srcOrd="2" destOrd="0" presId="urn:microsoft.com/office/officeart/2018/2/layout/IconVerticalSolidList"/>
    <dgm:cxn modelId="{FE9A64A9-2F79-604A-808B-CD0338623C12}" type="presParOf" srcId="{84A6C9C0-AC6A-4544-81F6-43245DB4EA71}" destId="{BF1B4E27-F3FC-4FE8-9C3B-B19E3ECFD901}" srcOrd="3" destOrd="0" presId="urn:microsoft.com/office/officeart/2018/2/layout/IconVerticalSolidList"/>
    <dgm:cxn modelId="{4ECB355C-C797-A245-9C33-49A346083B3C}" type="presParOf" srcId="{1E565B86-ED15-4AE2-9B52-C7E703AF9F2E}" destId="{55DFE72A-F6DC-1143-AD2A-6334AB94D12F}" srcOrd="1" destOrd="0" presId="urn:microsoft.com/office/officeart/2018/2/layout/IconVerticalSolidList"/>
    <dgm:cxn modelId="{5EBD76CC-70DD-F04B-BCDC-DF315AF9C538}" type="presParOf" srcId="{1E565B86-ED15-4AE2-9B52-C7E703AF9F2E}" destId="{D9C96869-6D90-45FC-A0F8-CC5ECCC3972C}" srcOrd="2" destOrd="0" presId="urn:microsoft.com/office/officeart/2018/2/layout/IconVerticalSolidList"/>
    <dgm:cxn modelId="{A163C2B3-29CA-D646-AACA-3F7DFA3B4D1C}" type="presParOf" srcId="{D9C96869-6D90-45FC-A0F8-CC5ECCC3972C}" destId="{2FC999F8-17CA-4540-A1E2-953783EB1C39}" srcOrd="0" destOrd="0" presId="urn:microsoft.com/office/officeart/2018/2/layout/IconVerticalSolidList"/>
    <dgm:cxn modelId="{0FFC1C52-09F8-E046-9653-93C379EFFC7F}" type="presParOf" srcId="{D9C96869-6D90-45FC-A0F8-CC5ECCC3972C}" destId="{524C60F3-384B-4220-8B7F-1BB4CC4968AD}" srcOrd="1" destOrd="0" presId="urn:microsoft.com/office/officeart/2018/2/layout/IconVerticalSolidList"/>
    <dgm:cxn modelId="{15C4756F-032F-0943-A306-9BC1965FBEE1}" type="presParOf" srcId="{D9C96869-6D90-45FC-A0F8-CC5ECCC3972C}" destId="{7FD18A2C-7717-4379-862C-6DD54785D335}" srcOrd="2" destOrd="0" presId="urn:microsoft.com/office/officeart/2018/2/layout/IconVerticalSolidList"/>
    <dgm:cxn modelId="{7E217A0C-73E2-F24D-839C-CF25DEF04FEE}" type="presParOf" srcId="{D9C96869-6D90-45FC-A0F8-CC5ECCC3972C}" destId="{64B7CD44-D039-4E6E-9901-22C5DBC797BF}" srcOrd="3" destOrd="0" presId="urn:microsoft.com/office/officeart/2018/2/layout/IconVerticalSolidList"/>
    <dgm:cxn modelId="{44563307-8D52-5C44-816D-EA78F613F7A5}" type="presParOf" srcId="{1E565B86-ED15-4AE2-9B52-C7E703AF9F2E}" destId="{F7C06CEC-1726-9045-A545-C1EB1F7FF3BA}" srcOrd="3" destOrd="0" presId="urn:microsoft.com/office/officeart/2018/2/layout/IconVerticalSolidList"/>
    <dgm:cxn modelId="{7B8506C6-0726-41BF-9F55-C3E4D187A749}" type="presParOf" srcId="{1E565B86-ED15-4AE2-9B52-C7E703AF9F2E}" destId="{5DCC59A2-9D54-4AEC-8DA8-01DA315EA22A}" srcOrd="4" destOrd="0" presId="urn:microsoft.com/office/officeart/2018/2/layout/IconVerticalSolidList"/>
    <dgm:cxn modelId="{B40D67FF-4B8A-4496-9A05-59D723C9E13E}" type="presParOf" srcId="{5DCC59A2-9D54-4AEC-8DA8-01DA315EA22A}" destId="{1DC63141-C79D-45DE-9100-88EAB49062E7}" srcOrd="0" destOrd="0" presId="urn:microsoft.com/office/officeart/2018/2/layout/IconVerticalSolidList"/>
    <dgm:cxn modelId="{AC73FDB6-7974-43FE-8926-6BA69ABA4ECA}" type="presParOf" srcId="{5DCC59A2-9D54-4AEC-8DA8-01DA315EA22A}" destId="{8162AC4F-C660-46A7-BD01-4236CE8EF074}" srcOrd="1" destOrd="0" presId="urn:microsoft.com/office/officeart/2018/2/layout/IconVerticalSolidList"/>
    <dgm:cxn modelId="{05060737-A63F-46D2-B06A-D7A9C534FB42}" type="presParOf" srcId="{5DCC59A2-9D54-4AEC-8DA8-01DA315EA22A}" destId="{BBE24440-4786-48C1-ADE1-907ADC25FA6E}" srcOrd="2" destOrd="0" presId="urn:microsoft.com/office/officeart/2018/2/layout/IconVerticalSolidList"/>
    <dgm:cxn modelId="{CC4C8EF6-BE8C-42B7-B54A-2CD417F3A92B}" type="presParOf" srcId="{5DCC59A2-9D54-4AEC-8DA8-01DA315EA22A}" destId="{66EE852C-57F2-468A-8681-12BD7BEB4A21}" srcOrd="3" destOrd="0" presId="urn:microsoft.com/office/officeart/2018/2/layout/IconVerticalSolidList"/>
    <dgm:cxn modelId="{66EF7CA2-41CF-48C0-9ADD-6DE5283F191E}" type="presParOf" srcId="{1E565B86-ED15-4AE2-9B52-C7E703AF9F2E}" destId="{F2EC825C-B4C5-41DB-8BBD-DD96D9AFE78E}" srcOrd="5" destOrd="0" presId="urn:microsoft.com/office/officeart/2018/2/layout/IconVerticalSolidList"/>
    <dgm:cxn modelId="{8E97843C-30F3-D144-AC79-A6C21DA32DDE}" type="presParOf" srcId="{1E565B86-ED15-4AE2-9B52-C7E703AF9F2E}" destId="{EE45521F-B3BD-3C44-BE69-827FC7B809CE}" srcOrd="6" destOrd="0" presId="urn:microsoft.com/office/officeart/2018/2/layout/IconVerticalSolidList"/>
    <dgm:cxn modelId="{5FAFBB58-BD03-6A43-83DB-E1D7BD8D7EB2}" type="presParOf" srcId="{EE45521F-B3BD-3C44-BE69-827FC7B809CE}" destId="{D8A89BB3-8817-5446-9189-00A82D9F724F}" srcOrd="0" destOrd="0" presId="urn:microsoft.com/office/officeart/2018/2/layout/IconVerticalSolidList"/>
    <dgm:cxn modelId="{17E01C77-542F-7541-B478-A51511489F7D}" type="presParOf" srcId="{EE45521F-B3BD-3C44-BE69-827FC7B809CE}" destId="{2CB0645A-7C44-9146-AF9E-B3E7B5B3EC3B}" srcOrd="1" destOrd="0" presId="urn:microsoft.com/office/officeart/2018/2/layout/IconVerticalSolidList"/>
    <dgm:cxn modelId="{270A9741-F1AC-3D47-AA77-5779EA8F8470}" type="presParOf" srcId="{EE45521F-B3BD-3C44-BE69-827FC7B809CE}" destId="{04CE6B40-C688-0447-AD2A-23B14260F1E7}" srcOrd="2" destOrd="0" presId="urn:microsoft.com/office/officeart/2018/2/layout/IconVerticalSolidList"/>
    <dgm:cxn modelId="{FA44F944-D8E6-6C4F-B4BC-FE5DA711B1A2}" type="presParOf" srcId="{EE45521F-B3BD-3C44-BE69-827FC7B809CE}" destId="{8030AD0D-0272-DD4B-991C-8FAEBA6706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C344B-5E5A-A14B-9818-6722D8D2A7C0}">
      <dsp:nvSpPr>
        <dsp:cNvPr id="0" name=""/>
        <dsp:cNvSpPr/>
      </dsp:nvSpPr>
      <dsp:spPr>
        <a:xfrm>
          <a:off x="0" y="436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1. Preparación de los datos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6066"/>
        <a:ext cx="8091560" cy="401192"/>
      </dsp:txXfrm>
    </dsp:sp>
    <dsp:sp modelId="{202A3A83-E226-5142-A753-63F25B431BD4}">
      <dsp:nvSpPr>
        <dsp:cNvPr id="0" name=""/>
        <dsp:cNvSpPr/>
      </dsp:nvSpPr>
      <dsp:spPr>
        <a:xfrm>
          <a:off x="0" y="50368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1900" u="none" kern="1200" dirty="0" err="1">
              <a:latin typeface="Arial" panose="020B0604020202020204" pitchFamily="34" charset="0"/>
              <a:cs typeface="Arial" panose="020B0604020202020204" pitchFamily="34" charset="0"/>
            </a:rPr>
            <a:t>Metodología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525386"/>
        <a:ext cx="8091560" cy="401192"/>
      </dsp:txXfrm>
    </dsp:sp>
    <dsp:sp modelId="{1F48731D-C904-1843-BAA3-01357CB853A9}">
      <dsp:nvSpPr>
        <dsp:cNvPr id="0" name=""/>
        <dsp:cNvSpPr/>
      </dsp:nvSpPr>
      <dsp:spPr>
        <a:xfrm>
          <a:off x="0" y="100300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3. Comparativa y selección de modelos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1024706"/>
        <a:ext cx="8091560" cy="401192"/>
      </dsp:txXfrm>
    </dsp:sp>
    <dsp:sp modelId="{87AF8C9A-1FEA-254C-9107-518F5510312F}">
      <dsp:nvSpPr>
        <dsp:cNvPr id="0" name=""/>
        <dsp:cNvSpPr/>
      </dsp:nvSpPr>
      <dsp:spPr>
        <a:xfrm>
          <a:off x="0" y="150232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4. Modelo elegido 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1524026"/>
        <a:ext cx="8091560" cy="401192"/>
      </dsp:txXfrm>
    </dsp:sp>
    <dsp:sp modelId="{94167B7F-0FEE-9643-BEA4-176ED8987214}">
      <dsp:nvSpPr>
        <dsp:cNvPr id="0" name=""/>
        <dsp:cNvSpPr/>
      </dsp:nvSpPr>
      <dsp:spPr>
        <a:xfrm>
          <a:off x="0" y="200164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5. Análisis de variables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023346"/>
        <a:ext cx="8091560" cy="401192"/>
      </dsp:txXfrm>
    </dsp:sp>
    <dsp:sp modelId="{44364C73-2072-F247-AC8E-D752A48996D8}">
      <dsp:nvSpPr>
        <dsp:cNvPr id="0" name=""/>
        <dsp:cNvSpPr/>
      </dsp:nvSpPr>
      <dsp:spPr>
        <a:xfrm>
          <a:off x="0" y="250096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6. Creación de perfiles fiable vs riesgo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522666"/>
        <a:ext cx="8091560" cy="401192"/>
      </dsp:txXfrm>
    </dsp:sp>
    <dsp:sp modelId="{AD4BB4C8-C2FA-BC4F-88D5-7BAA2160CE89}">
      <dsp:nvSpPr>
        <dsp:cNvPr id="0" name=""/>
        <dsp:cNvSpPr/>
      </dsp:nvSpPr>
      <dsp:spPr>
        <a:xfrm>
          <a:off x="0" y="300028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7. Estrategia de overbooking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3021986"/>
        <a:ext cx="8091560" cy="401192"/>
      </dsp:txXfrm>
    </dsp:sp>
    <dsp:sp modelId="{DE1A8DE4-86CB-0449-9FC3-D732B38BA9DE}">
      <dsp:nvSpPr>
        <dsp:cNvPr id="0" name=""/>
        <dsp:cNvSpPr/>
      </dsp:nvSpPr>
      <dsp:spPr>
        <a:xfrm>
          <a:off x="0" y="349960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8. Conclusiones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3521306"/>
        <a:ext cx="8091560" cy="401192"/>
      </dsp:txXfrm>
    </dsp:sp>
    <dsp:sp modelId="{8D4E364D-01B9-BF4C-B2D9-8990CDAAFA36}">
      <dsp:nvSpPr>
        <dsp:cNvPr id="0" name=""/>
        <dsp:cNvSpPr/>
      </dsp:nvSpPr>
      <dsp:spPr>
        <a:xfrm>
          <a:off x="0" y="399892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9. Próximos pasos  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4020626"/>
        <a:ext cx="8091560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61EF2-F207-4672-B602-A300B353FB7A}">
      <dsp:nvSpPr>
        <dsp:cNvPr id="0" name=""/>
        <dsp:cNvSpPr/>
      </dsp:nvSpPr>
      <dsp:spPr>
        <a:xfrm>
          <a:off x="756755" y="837942"/>
          <a:ext cx="1465928" cy="14659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2599D-97A4-4431-ADA8-452B70BF1024}">
      <dsp:nvSpPr>
        <dsp:cNvPr id="0" name=""/>
        <dsp:cNvSpPr/>
      </dsp:nvSpPr>
      <dsp:spPr>
        <a:xfrm>
          <a:off x="1069166" y="1150353"/>
          <a:ext cx="841106" cy="841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8B112-2B7A-423F-B835-C54B1A9B35A8}">
      <dsp:nvSpPr>
        <dsp:cNvPr id="0" name=""/>
        <dsp:cNvSpPr/>
      </dsp:nvSpPr>
      <dsp:spPr>
        <a:xfrm>
          <a:off x="288139" y="2760472"/>
          <a:ext cx="2403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 dirty="0">
              <a:latin typeface="Arial" panose="020B0604020202020204" pitchFamily="34" charset="0"/>
              <a:cs typeface="Arial" panose="020B0604020202020204" pitchFamily="34" charset="0"/>
            </a:rPr>
            <a:t>Eliminación de filas con valores irreales.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139" y="2760472"/>
        <a:ext cx="2403161" cy="720000"/>
      </dsp:txXfrm>
    </dsp:sp>
    <dsp:sp modelId="{E74CC76D-FC77-4239-803F-00940CFF88F0}">
      <dsp:nvSpPr>
        <dsp:cNvPr id="0" name=""/>
        <dsp:cNvSpPr/>
      </dsp:nvSpPr>
      <dsp:spPr>
        <a:xfrm>
          <a:off x="3580470" y="837942"/>
          <a:ext cx="1465928" cy="14659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EBC21-E125-4857-9880-530AA81141B1}">
      <dsp:nvSpPr>
        <dsp:cNvPr id="0" name=""/>
        <dsp:cNvSpPr/>
      </dsp:nvSpPr>
      <dsp:spPr>
        <a:xfrm>
          <a:off x="3892881" y="1150353"/>
          <a:ext cx="841106" cy="841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EB0B8-365B-4E9A-BA18-59303B613395}">
      <dsp:nvSpPr>
        <dsp:cNvPr id="0" name=""/>
        <dsp:cNvSpPr/>
      </dsp:nvSpPr>
      <dsp:spPr>
        <a:xfrm>
          <a:off x="3111853" y="2760472"/>
          <a:ext cx="2403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 dirty="0">
              <a:latin typeface="Arial" panose="020B0604020202020204" pitchFamily="34" charset="0"/>
              <a:cs typeface="Arial" panose="020B0604020202020204" pitchFamily="34" charset="0"/>
            </a:rPr>
            <a:t>Creación de la variable binaria “target”.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1853" y="2760472"/>
        <a:ext cx="2403161" cy="720000"/>
      </dsp:txXfrm>
    </dsp:sp>
    <dsp:sp modelId="{F81C1D25-28BC-4E1B-83CB-73E437018173}">
      <dsp:nvSpPr>
        <dsp:cNvPr id="0" name=""/>
        <dsp:cNvSpPr/>
      </dsp:nvSpPr>
      <dsp:spPr>
        <a:xfrm>
          <a:off x="6404185" y="837942"/>
          <a:ext cx="1465928" cy="14659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24244-3091-447B-8A9B-8A0679969CD1}">
      <dsp:nvSpPr>
        <dsp:cNvPr id="0" name=""/>
        <dsp:cNvSpPr/>
      </dsp:nvSpPr>
      <dsp:spPr>
        <a:xfrm>
          <a:off x="6716596" y="1150353"/>
          <a:ext cx="841106" cy="841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C0121-2C0A-49DC-A721-1B8B5EA3BC03}">
      <dsp:nvSpPr>
        <dsp:cNvPr id="0" name=""/>
        <dsp:cNvSpPr/>
      </dsp:nvSpPr>
      <dsp:spPr>
        <a:xfrm>
          <a:off x="5935568" y="2760472"/>
          <a:ext cx="2403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 dirty="0">
              <a:latin typeface="Arial" panose="020B0604020202020204" pitchFamily="34" charset="0"/>
              <a:cs typeface="Arial" panose="020B0604020202020204" pitchFamily="34" charset="0"/>
            </a:rPr>
            <a:t>Transformación de variables categóricas mediante K-1 </a:t>
          </a:r>
          <a:r>
            <a:rPr lang="es-ES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Encoding</a:t>
          </a:r>
          <a:r>
            <a:rPr lang="es-ES" sz="12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35568" y="2760472"/>
        <a:ext cx="2403161" cy="720000"/>
      </dsp:txXfrm>
    </dsp:sp>
    <dsp:sp modelId="{1DFBB965-8B76-45F6-99EB-A54EF1DDEB48}">
      <dsp:nvSpPr>
        <dsp:cNvPr id="0" name=""/>
        <dsp:cNvSpPr/>
      </dsp:nvSpPr>
      <dsp:spPr>
        <a:xfrm>
          <a:off x="9227899" y="837942"/>
          <a:ext cx="1465928" cy="14659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1BA75-732E-4BB8-B1B7-64AEBA9EA0D6}">
      <dsp:nvSpPr>
        <dsp:cNvPr id="0" name=""/>
        <dsp:cNvSpPr/>
      </dsp:nvSpPr>
      <dsp:spPr>
        <a:xfrm>
          <a:off x="9540310" y="1150353"/>
          <a:ext cx="841106" cy="841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0D3D3-AA43-4013-8DEF-26CD0BEF2B4C}">
      <dsp:nvSpPr>
        <dsp:cNvPr id="0" name=""/>
        <dsp:cNvSpPr/>
      </dsp:nvSpPr>
      <dsp:spPr>
        <a:xfrm>
          <a:off x="8759283" y="2760472"/>
          <a:ext cx="2403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 dirty="0">
              <a:latin typeface="Arial" panose="020B0604020202020204" pitchFamily="34" charset="0"/>
              <a:cs typeface="Arial" panose="020B0604020202020204" pitchFamily="34" charset="0"/>
            </a:rPr>
            <a:t>División temporal siguiendo el orden cronológico de las reservas.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759283" y="2760472"/>
        <a:ext cx="2403161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4F90E-BCD2-184A-B7DB-6886CAEC187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EAB82-4A97-914A-8BB2-37849D11CF9E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Hemos desarrollado un </a:t>
          </a: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modelo capaz de adaptarse 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al comportamiento real del cliente.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0"/>
        <a:ext cx="10515600" cy="1087834"/>
      </dsp:txXfrm>
    </dsp:sp>
    <dsp:sp modelId="{58B0EB88-D266-3346-83A0-CC11D32CEE76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FAAF1-49A3-774E-95C0-1FFF5D4EB4AA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Creamos perfiles fiables y de riesgo, </a:t>
          </a:r>
          <a:r>
            <a:rPr lang="es-ES" sz="1800" b="0" kern="1200" dirty="0">
              <a:latin typeface="Arial" panose="020B0604020202020204" pitchFamily="34" charset="0"/>
              <a:cs typeface="Arial" panose="020B0604020202020204" pitchFamily="34" charset="0"/>
            </a:rPr>
            <a:t>para hacer estrategias de atracción.</a:t>
          </a:r>
          <a:endParaRPr lang="en-US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087834"/>
        <a:ext cx="10515600" cy="1087834"/>
      </dsp:txXfrm>
    </dsp:sp>
    <dsp:sp modelId="{C5AC4FC1-D184-DC45-92A5-1F674BEB65F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DE91A-3DB1-1A42-86E9-CF398A4886D4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Ajustamos el umbral de decisión al 70% para </a:t>
          </a: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minimizar los falsos positivos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, priorizando en todo momento la reputación y el servicio del hotel.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175669"/>
        <a:ext cx="10515600" cy="1087834"/>
      </dsp:txXfrm>
    </dsp:sp>
    <dsp:sp modelId="{09A49DC6-1F84-0946-9B64-44BDDDAA6B07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AE255-6B36-814D-82EF-19D0A69988D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Estrategias de overbooking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: Compensamos esta precaución utilizando nuestra estimación de falsos negativos. Esto nos permite calcular estadísticamente cuántas habitaciones extra podemos vender de forma segura para maximizar la ocupación.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263503"/>
        <a:ext cx="10515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F6D36-57F7-4DC2-B35F-BEADE585BD94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4D579-FCA2-4D3D-B54E-67A8336DA25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B4E27-F3FC-4FE8-9C3B-B19E3ECFD901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rial" panose="020B0604020202020204" pitchFamily="34" charset="0"/>
              <a:cs typeface="Arial" panose="020B0604020202020204" pitchFamily="34" charset="0"/>
            </a:rPr>
            <a:t>Incluir nuevas variables de estudio para poder predecir mejor la tasa de cancelación de los clientes.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57183" y="1805"/>
        <a:ext cx="9458416" cy="915310"/>
      </dsp:txXfrm>
    </dsp:sp>
    <dsp:sp modelId="{2FC999F8-17CA-4540-A1E2-953783EB1C39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C60F3-384B-4220-8B7F-1BB4CC4968A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7CD44-D039-4E6E-9901-22C5DBC797B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rial" panose="020B0604020202020204" pitchFamily="34" charset="0"/>
              <a:cs typeface="Arial" panose="020B0604020202020204" pitchFamily="34" charset="0"/>
            </a:rPr>
            <a:t>Recoger más datos para poder ver diferentes tendencias según épocas del año y poder afinar más el overbooking.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57183" y="1145944"/>
        <a:ext cx="9458416" cy="915310"/>
      </dsp:txXfrm>
    </dsp:sp>
    <dsp:sp modelId="{1DC63141-C79D-45DE-9100-88EAB49062E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2AC4F-C660-46A7-BD01-4236CE8EF074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E852C-57F2-468A-8681-12BD7BEB4A21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rial" panose="020B0604020202020204" pitchFamily="34" charset="0"/>
              <a:cs typeface="Arial" panose="020B0604020202020204" pitchFamily="34" charset="0"/>
            </a:rPr>
            <a:t>Incluir un </a:t>
          </a:r>
          <a:r>
            <a:rPr lang="es-E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chatbot</a:t>
          </a:r>
          <a:r>
            <a:rPr lang="es-ES" sz="2200" kern="1200" dirty="0">
              <a:latin typeface="Arial" panose="020B0604020202020204" pitchFamily="34" charset="0"/>
              <a:cs typeface="Arial" panose="020B0604020202020204" pitchFamily="34" charset="0"/>
            </a:rPr>
            <a:t> para automatizar la detección de clientes propensos a cancelar y que genere el overbooking óptimo.</a:t>
          </a:r>
        </a:p>
      </dsp:txBody>
      <dsp:txXfrm>
        <a:off x="1057183" y="2290082"/>
        <a:ext cx="9458416" cy="915310"/>
      </dsp:txXfrm>
    </dsp:sp>
    <dsp:sp modelId="{D8A89BB3-8817-5446-9189-00A82D9F724F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0645A-7C44-9146-AF9E-B3E7B5B3EC3B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0AD0D-0272-DD4B-991C-8FAEBA670610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Propuestas de campañas de marketing concretas, basadas en las características particulares de cada individuo.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44C56-DCDC-6446-B63D-49A96042BD2E}" type="datetimeFigureOut">
              <a:rPr lang="es-ES" smtClean="0"/>
              <a:t>14/5/26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65E99-AAED-FC4E-A749-7D78CE3ABC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1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65E99-AAED-FC4E-A749-7D78CE3ABCF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6762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3736A-6822-01BC-2486-1CB571AE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2498C-625E-7041-5A0E-1504ACB72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B6D13-36E5-34E9-172D-15284DA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06FB7-6E13-A800-DDD8-573D67DE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83A29-3814-B9CB-225D-18F57057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49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34CB-028B-4F8E-98AE-0EB4E4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5C1ABC-9AE4-24CD-6B4E-F129386F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A7F8D-C333-48CD-8DBC-DD6891B2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85831-4084-77B8-1E22-7050F15E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6C03C-73BF-0EBD-A7BB-1DE9BDDD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861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F0D2-7A05-F67D-7A5E-A7A8DF0C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775F7-60E4-C511-5039-1B809367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D0DACB-8889-8D82-2B2E-2016C326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CE4CA4-4014-8BC4-68DB-6C397414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E0547-AFA6-DD6F-6A72-DF467993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2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EE7DD-A033-52E8-FCF3-16C120BE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038EE-DEFA-F207-9AF0-B470C3CA4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3B5F9C-0697-2A6F-99BE-CE852B801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2E2CF-F6C9-D2E5-12EA-430E86E4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FDC84-F7D0-5C9F-CEB0-BCDE0980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CE750-3D0D-5E19-B9DF-23EC0A54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49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3439B-C12A-ED62-6B96-8FE7F3B3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DC134-1FE1-EE12-CBCF-04A7FB6C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597759-14C0-E5AC-E18D-D068F93C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08263E-10C3-E20A-5DC9-0BB3CFEE3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C5F822-CD3E-BD91-0647-BC94B8BCF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809EB1-D13E-C075-E2C6-23972763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803215-F800-D2BB-F603-EFE5DD9C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1D9A11-DA63-01E9-81BE-289D6AE0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24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3ADD7-590A-BBF1-7482-2B56A808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A212F6-F7B2-4EC7-83E2-A6121B1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0466B7-4067-CAF5-A818-FB4A61D4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1695A1-C710-2B6F-B7FF-E958E7F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7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BA3AF8-BDE5-EECB-F79A-EE60D28E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BD0F4-F1F9-4645-4358-BB17781C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F3407-64A3-5843-A0D9-D0B2CC1B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791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6C491-C77C-645C-CDFD-E78179F2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A9460-84FD-565F-2969-1A5C03FB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CD8372-9330-334B-67CC-158853A81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F4C27-02AA-3083-8E5F-CF0CCF99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879E80-676B-50EE-2936-625EF55B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B914A4-42D5-D47D-B261-CDAA8C6C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73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7E717-BE23-007D-12D2-E80F6320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F3A6E4-CA69-5BFB-F173-186673A0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F1460-BA7A-38C2-45D8-9291582E5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03D35-B6FD-58C2-D6B5-C6558EDF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670F7D-E9C4-3B41-0D32-74603C52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6EE289-3264-2E26-F1C4-382F8D9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22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18A40-D97C-E147-0ECA-E55C97C9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1FA357-7278-D52E-7C73-F238462D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DE9CB-872A-E13F-3C2E-74365A75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09E87-F0D1-4055-7527-155EC767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70FD6-9367-1FC8-A89A-45BBEE6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208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E8EF0B-D1D6-1275-AD8E-88E9392C8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3DD467-407A-9041-C677-6DF77CB4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21B375-2FF1-AA10-5799-A0D24594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515E6F-DEB6-50C2-A9C0-2099AB4A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FF1981-AD45-3CF1-BACC-7254BC64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828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B2E139-ABD4-8A10-81D2-AF510B25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F43998-867F-F757-CD0D-70484B2C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AB669-3F4B-ED48-1226-CBF1AFA1E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9C10CE-0908-EBDC-1DCF-1CBC8C5B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29EA9-4851-556F-5CAF-DB29A6F2B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46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E07308-600E-DDFC-5531-18860F866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9379" y="233461"/>
            <a:ext cx="7430160" cy="2779619"/>
          </a:xfrm>
        </p:spPr>
        <p:txBody>
          <a:bodyPr anchor="b">
            <a:normAutofit/>
          </a:bodyPr>
          <a:lstStyle/>
          <a:p>
            <a:pPr algn="l"/>
            <a:r>
              <a:rPr lang="es-ES" sz="4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predictivos en cancelaciones hoteleras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2C51AF-D8C4-F047-AF1D-5EA42907F6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29378" y="3072882"/>
            <a:ext cx="7213438" cy="12651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Modelos de Machine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aplicaciones de negocio.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1559B28-BE99-E57F-D5D2-BE79164F0264}"/>
              </a:ext>
            </a:extLst>
          </p:cNvPr>
          <p:cNvSpPr txBox="1"/>
          <p:nvPr/>
        </p:nvSpPr>
        <p:spPr>
          <a:xfrm>
            <a:off x="595728" y="5453270"/>
            <a:ext cx="28878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Anaís Nájar Martínez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López Alfaro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 Ferrández García 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AB8E32C-3F0D-021A-7CC5-DC459679A683}"/>
              </a:ext>
            </a:extLst>
          </p:cNvPr>
          <p:cNvSpPr txBox="1"/>
          <p:nvPr/>
        </p:nvSpPr>
        <p:spPr>
          <a:xfrm>
            <a:off x="550360" y="4736091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Mayo 2026</a:t>
            </a:r>
          </a:p>
        </p:txBody>
      </p:sp>
      <p:pic>
        <p:nvPicPr>
          <p:cNvPr id="70" name="Imagen 69" descr="Logotipo&#10;&#10;El contenido generado por IA puede ser incorrecto.">
            <a:extLst>
              <a:ext uri="{FF2B5EF4-FFF2-40B4-BE49-F238E27FC236}">
                <a16:creationId xmlns:a16="http://schemas.microsoft.com/office/drawing/2014/main" id="{3A2A7028-762E-6961-3A9C-05919A2A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64" y="1104554"/>
            <a:ext cx="2056617" cy="218882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B8ECB6-2A15-F88E-B57E-C4CBCF2147A8}"/>
              </a:ext>
            </a:extLst>
          </p:cNvPr>
          <p:cNvSpPr txBox="1"/>
          <p:nvPr/>
        </p:nvSpPr>
        <p:spPr>
          <a:xfrm>
            <a:off x="583659" y="6417245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11</a:t>
            </a:r>
          </a:p>
        </p:txBody>
      </p:sp>
    </p:spTree>
    <p:extLst>
      <p:ext uri="{BB962C8B-B14F-4D97-AF65-F5344CB8AC3E}">
        <p14:creationId xmlns:p14="http://schemas.microsoft.com/office/powerpoint/2010/main" val="265073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CCA9F-C5A2-8C8B-18E6-85F34A0D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EC9C7F-CD0B-ED17-A65C-05C99BC6D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D8465-2B63-9FF6-AC9C-766820A8F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434A79-8999-6E78-9D7B-C77476434CE9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62EFC2-8FBA-7C18-9ED8-242EF088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RESUMEN EJECUTIVO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707E7-E085-2689-A5EC-E975C8C9F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05D1F1-7C51-9E93-18EE-DA4EE230B0D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CEB688FC-4AB9-8166-971E-867D565B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3EA4FB-DCF4-9AAE-6D65-0D14B00F7315}"/>
              </a:ext>
            </a:extLst>
          </p:cNvPr>
          <p:cNvSpPr txBox="1"/>
          <p:nvPr/>
        </p:nvSpPr>
        <p:spPr>
          <a:xfrm>
            <a:off x="383390" y="1921594"/>
            <a:ext cx="11412370" cy="4799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Limpieza de datos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irreales que formaban parte de nuestro </a:t>
            </a:r>
            <a:r>
              <a:rPr lang="es-ES" sz="17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ordenación de los datos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ya que estamos ante una serie temporal. Partición de los datos en </a:t>
            </a:r>
            <a:r>
              <a:rPr lang="es-E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, validación y test.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Analizamos los datos y entrenamos diferentes modelos predictivos como </a:t>
            </a:r>
            <a:r>
              <a:rPr lang="es-ES" sz="17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700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 y Random Forest. </a:t>
            </a:r>
            <a:r>
              <a:rPr lang="es-E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ha demostrado ser el más estable y el que mejor aprende frente a los otros modelos basándonos en la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precisión.</a:t>
            </a:r>
          </a:p>
          <a:p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Hacemos un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análisis de las variables más influyentes de nuestro modelo final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. Observando como destacan las variables: tiempo de antelación de la reserva, número de peticiones especiales que nuestros clientes hacen y el mes de llegada. Además, mostramos el comportamiento de cada una de ellas de forma particular.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Diferenciamos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dos perfiles muy claros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: el cliente que casi seguro cancelará y el cliente que es fiable.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Implementación de una estrategia de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overbooking inteligente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. Ajustamos el umbral predictivo al 70% para proteger la reputación del hotel, utilizando el volumen de error estadístico para revender habitaciones de forma segura.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447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BB434-4D01-B4D5-2884-53FCE30A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5AB3A8-FB97-DD77-C12C-557118BA2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775A7-2905-0695-51D4-9CA7D2650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2A77107-97DA-7358-2116-9B84206A4984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096634-AC28-7975-0489-06B87D8D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2ED48-64ED-2657-862B-CDD848F2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0E8D0F-CF42-8063-1273-072A15A94987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737AF778-F945-909C-CA6E-AAC2B9BB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7" name="CuadroTexto 2">
            <a:extLst>
              <a:ext uri="{FF2B5EF4-FFF2-40B4-BE49-F238E27FC236}">
                <a16:creationId xmlns:a16="http://schemas.microsoft.com/office/drawing/2014/main" id="{65E98835-8ACE-1D48-9633-B34CC73489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758288"/>
              </p:ext>
            </p:extLst>
          </p:nvPr>
        </p:nvGraphicFramePr>
        <p:xfrm>
          <a:off x="650217" y="1949068"/>
          <a:ext cx="8134968" cy="4447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80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9497-F323-F245-7D2F-447A736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C35E29-A459-CC0E-54FA-876AB7799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44433-FFB8-A56D-7296-28B21D92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F6371C-0232-B0DC-CA46-006089C50A62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92843-A655-F460-0829-891FFA68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5" y="347017"/>
            <a:ext cx="11702255" cy="1152570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PREPARACIÓN DE LOS DATOS PARA MEJORAR LA CAPACIDAD PREDICTIVA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444549-E166-3326-8109-B1B2CA7A1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D6AEA1-259B-9A31-1E0F-D19D252F590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284E44-EA46-3F5D-04C6-C97163CE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uadroTexto 2">
            <a:extLst>
              <a:ext uri="{FF2B5EF4-FFF2-40B4-BE49-F238E27FC236}">
                <a16:creationId xmlns:a16="http://schemas.microsoft.com/office/drawing/2014/main" id="{4388FCD6-7D93-BD2F-54DF-F2108FBBE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534322"/>
              </p:ext>
            </p:extLst>
          </p:nvPr>
        </p:nvGraphicFramePr>
        <p:xfrm>
          <a:off x="370691" y="2085202"/>
          <a:ext cx="11450584" cy="4318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207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C6234-252F-828F-DD59-CC119C49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363CB3-E807-AC16-9DE9-5D212B61A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5D740F-97C6-49D6-2E08-7882185D4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27C7055-919F-EF6E-12CB-9210908FFE82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BF989-E3D9-1B51-B0D7-0E0966C3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4" y="363199"/>
            <a:ext cx="11702255" cy="1100386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ENTRENAMOS Y VALIDAMOS MODELOS PARA GARANTIZAR PRECISIÓN 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7AE1D8-4F65-F72A-C3C7-1828CB9C6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7CA6EC-B13C-7468-6F86-50C3677DBC30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FC3EB5-7E1B-8F63-920D-35E35515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58884F9-38DC-9053-6A74-6C9D1AD6A904}"/>
              </a:ext>
            </a:extLst>
          </p:cNvPr>
          <p:cNvSpPr/>
          <p:nvPr/>
        </p:nvSpPr>
        <p:spPr>
          <a:xfrm>
            <a:off x="1754372" y="2445488"/>
            <a:ext cx="1903228" cy="76554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TRAIN (60%)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FD73050F-EA9B-0B50-E83D-B99D99E9004D}"/>
              </a:ext>
            </a:extLst>
          </p:cNvPr>
          <p:cNvSpPr/>
          <p:nvPr/>
        </p:nvSpPr>
        <p:spPr>
          <a:xfrm>
            <a:off x="5144386" y="2445488"/>
            <a:ext cx="1903228" cy="76554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VAL (25%)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4EE354B2-98B8-CB19-DDB9-2FD49E2BCC37}"/>
              </a:ext>
            </a:extLst>
          </p:cNvPr>
          <p:cNvSpPr/>
          <p:nvPr/>
        </p:nvSpPr>
        <p:spPr>
          <a:xfrm>
            <a:off x="8534400" y="2445488"/>
            <a:ext cx="1903228" cy="76554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TEST (15%)</a:t>
            </a:r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68FE51CD-9B59-5605-EFBC-ED47000C2321}"/>
              </a:ext>
            </a:extLst>
          </p:cNvPr>
          <p:cNvSpPr/>
          <p:nvPr/>
        </p:nvSpPr>
        <p:spPr>
          <a:xfrm>
            <a:off x="3943793" y="2612920"/>
            <a:ext cx="914400" cy="38277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ECFF434A-A23D-701D-F98D-10F64AFEE863}"/>
              </a:ext>
            </a:extLst>
          </p:cNvPr>
          <p:cNvSpPr/>
          <p:nvPr/>
        </p:nvSpPr>
        <p:spPr>
          <a:xfrm>
            <a:off x="7333807" y="2636812"/>
            <a:ext cx="914400" cy="38277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977E767C-33FA-24CE-E9BA-2D39DC5FD134}"/>
              </a:ext>
            </a:extLst>
          </p:cNvPr>
          <p:cNvSpPr/>
          <p:nvPr/>
        </p:nvSpPr>
        <p:spPr>
          <a:xfrm>
            <a:off x="1343229" y="4001487"/>
            <a:ext cx="9505507" cy="94629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modelos Random Forest,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38D6772B-ACDD-1D62-FA55-B7F4D12D5B08}"/>
              </a:ext>
            </a:extLst>
          </p:cNvPr>
          <p:cNvSpPr/>
          <p:nvPr/>
        </p:nvSpPr>
        <p:spPr>
          <a:xfrm>
            <a:off x="1385446" y="5066399"/>
            <a:ext cx="9505507" cy="946298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Precisión como métrica de clasificación para la elección del modelo.</a:t>
            </a:r>
          </a:p>
        </p:txBody>
      </p:sp>
    </p:spTree>
    <p:extLst>
      <p:ext uri="{BB962C8B-B14F-4D97-AF65-F5344CB8AC3E}">
        <p14:creationId xmlns:p14="http://schemas.microsoft.com/office/powerpoint/2010/main" val="108674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16550-14D2-A81F-68F7-60C8B781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37F105-645D-FA85-C2A5-C6B366609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0F0B17-0101-2146-5AA1-8015E471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BB70F7E-8B94-8354-96D7-D66F637BC961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60274F-5F96-78E2-7C70-1308CEAF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" y="410734"/>
            <a:ext cx="12191978" cy="945243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COMPARATIVA Y SELECCIÓN DE MODELOS PRIORIZANDO ESTABILIDAD FRENTE A PRECISIÓN TEÓRICA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412CCD-8EE7-E81D-696F-B5203705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C9B7880-79A8-2E02-B8EE-8D9586C287EF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C8622C8C-567D-6B97-CC76-8CA3FDAD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oogle Shape;311;p18">
            <a:extLst>
              <a:ext uri="{FF2B5EF4-FFF2-40B4-BE49-F238E27FC236}">
                <a16:creationId xmlns:a16="http://schemas.microsoft.com/office/drawing/2014/main" id="{7485E5B5-1299-BBD9-40D6-F461C6176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3999862"/>
              </p:ext>
            </p:extLst>
          </p:nvPr>
        </p:nvGraphicFramePr>
        <p:xfrm>
          <a:off x="655641" y="2554230"/>
          <a:ext cx="5652688" cy="3389371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752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88">
                  <a:extLst>
                    <a:ext uri="{9D8B030D-6E8A-4147-A177-3AD203B41FA5}">
                      <a16:colId xmlns:a16="http://schemas.microsoft.com/office/drawing/2014/main" val="1682534565"/>
                    </a:ext>
                  </a:extLst>
                </a:gridCol>
                <a:gridCol w="1275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076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MODELO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XGBoost</a:t>
                      </a:r>
                      <a:endParaRPr sz="1700"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 dirty="0">
                          <a:solidFill>
                            <a:schemeClr val="lt1"/>
                          </a:solidFill>
                          <a:sym typeface="Nunito"/>
                        </a:rPr>
                        <a:t>Random Forest</a:t>
                      </a:r>
                      <a:endParaRPr sz="1800"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LightGBM</a:t>
                      </a:r>
                      <a:endParaRPr sz="1700"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70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TRAIN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0.7397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0.6875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0.7877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4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VALIDACIÓN</a:t>
                      </a:r>
                      <a:endParaRPr sz="1100"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0.8040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0.8501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0.8381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 dirty="0">
                          <a:solidFill>
                            <a:schemeClr val="lt1"/>
                          </a:solidFill>
                          <a:sym typeface="Nunito"/>
                        </a:rPr>
                        <a:t>TEST</a:t>
                      </a:r>
                      <a:endParaRPr sz="1200"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0.8216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0.8545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0.8401</a:t>
                      </a:r>
                      <a:endParaRPr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81F53949-52E6-EFDE-8CA6-639C0E93EBC4}"/>
              </a:ext>
            </a:extLst>
          </p:cNvPr>
          <p:cNvSpPr txBox="1"/>
          <p:nvPr/>
        </p:nvSpPr>
        <p:spPr>
          <a:xfrm>
            <a:off x="7272338" y="2383116"/>
            <a:ext cx="39556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Conseguimos un buen modelo haciendo uso del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early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stopping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pero obtiene el peor resultado.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Random Forest: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Alcanza la máxima precisión teórica, pero resulta ser un modelo demasiado inestable ante los cambios de temporada.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Modelo seleccionado. Es el más equilibrado y con el que conseguimos la mayor estabilidad entre Train y Test. </a:t>
            </a:r>
          </a:p>
        </p:txBody>
      </p:sp>
    </p:spTree>
    <p:extLst>
      <p:ext uri="{BB962C8B-B14F-4D97-AF65-F5344CB8AC3E}">
        <p14:creationId xmlns:p14="http://schemas.microsoft.com/office/powerpoint/2010/main" val="140384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CCF59-B1FD-BEBB-7D5B-E7E5BD80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2FCDFE-B242-DE5F-812D-4FB1FCBE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9807DA-7684-A7FB-D1BD-976D2C8B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4DD00C5-7FAD-24F1-C21C-BD9B96E607E3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5F0297-19B1-1387-E663-F3997D2D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" y="358775"/>
            <a:ext cx="12191978" cy="1084563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ELEGIDO CON MEJOR CAPACIDAD DE GENERALIZACIÓN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74078F-8906-01C5-6539-639FC6A9D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87F7312-F6AB-A9F4-0C23-998608F87EDD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5F2B1145-F8C4-D4B0-224B-268BBB0C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Google Shape;324;p19">
            <a:extLst>
              <a:ext uri="{FF2B5EF4-FFF2-40B4-BE49-F238E27FC236}">
                <a16:creationId xmlns:a16="http://schemas.microsoft.com/office/drawing/2014/main" id="{8AEA9009-40C9-7486-6AEB-2B9EAC8AC6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633280"/>
              </p:ext>
            </p:extLst>
          </p:nvPr>
        </p:nvGraphicFramePr>
        <p:xfrm>
          <a:off x="750597" y="3714583"/>
          <a:ext cx="6328915" cy="142610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600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0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TRAIN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VALIDACIÓN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TEST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0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b="1" dirty="0">
                          <a:solidFill>
                            <a:schemeClr val="lt1"/>
                          </a:solidFill>
                          <a:sym typeface="Nunito"/>
                        </a:rPr>
                        <a:t>PRECISIÓN</a:t>
                      </a:r>
                      <a:endParaRPr b="1" dirty="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0.7877</a:t>
                      </a:r>
                      <a:endParaRPr lang="es"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0.8381</a:t>
                      </a:r>
                      <a:endParaRPr lang="es" sz="1500" b="1" dirty="0">
                        <a:solidFill>
                          <a:srgbClr val="4C113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 b="1" dirty="0">
                          <a:solidFill>
                            <a:srgbClr val="4C1130"/>
                          </a:solidFill>
                          <a:sym typeface="Nunito"/>
                        </a:rPr>
                        <a:t>0.8401</a:t>
                      </a:r>
                      <a:endParaRPr b="1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D51A40C-B4A4-F46B-A648-5CB09C408C72}"/>
              </a:ext>
            </a:extLst>
          </p:cNvPr>
          <p:cNvSpPr txBox="1"/>
          <p:nvPr/>
        </p:nvSpPr>
        <p:spPr>
          <a:xfrm>
            <a:off x="2586316" y="2639202"/>
            <a:ext cx="2657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u="sng" dirty="0" err="1"/>
              <a:t>LightGBM</a:t>
            </a:r>
            <a:endParaRPr lang="es-ES" sz="2400" u="sng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10681F-C0BE-F04F-663D-584D170AA79E}"/>
              </a:ext>
            </a:extLst>
          </p:cNvPr>
          <p:cNvSpPr txBox="1"/>
          <p:nvPr/>
        </p:nvSpPr>
        <p:spPr>
          <a:xfrm>
            <a:off x="7742506" y="3368103"/>
            <a:ext cx="3611294" cy="229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El modelo de </a:t>
            </a:r>
            <a:r>
              <a:rPr lang="es-E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proporciona una precisión del 84,01%, lo que significa que de cada 100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reservas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que se predicen que van a ser canceladas, 84 cancelan realmente. </a:t>
            </a:r>
            <a:endParaRPr lang="es-ES" sz="1600"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69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B93AE-3EA5-A261-CF16-D8D0C4E5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4A78CF-3935-20CA-7789-D4BFF2D9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76955-4D7F-0BAE-E3CB-502CA19C0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E90F55-0AFA-E993-1249-811CA88128D3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AEF9E-0056-3D4A-C41D-2295A75B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2" y="284212"/>
            <a:ext cx="12178768" cy="1164438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 LOS FACTORES CLAVE DEL COMPORTAMIENTO DEL CLIENTE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3B012-8153-10D8-69DF-1D92FB5D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BCA6C7-CAC8-F94F-0E4D-C667189F6B91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348D68-6766-B7E7-0FFA-FB1ABCB5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33EB311-474F-22E9-A917-CD9D0F0A8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19" y="1725546"/>
            <a:ext cx="4347208" cy="51197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E432BCB-9BAA-D226-454F-9C0BA27045B9}"/>
              </a:ext>
            </a:extLst>
          </p:cNvPr>
          <p:cNvSpPr txBox="1"/>
          <p:nvPr/>
        </p:nvSpPr>
        <p:spPr>
          <a:xfrm>
            <a:off x="5912380" y="1908916"/>
            <a:ext cx="5396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Antelación (lead time): El factor más crítico.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reservas hechas con meses de antelación concentran el mayor volumen de cancelaciones</a:t>
            </a:r>
            <a:r>
              <a:rPr lang="es-ES" dirty="0"/>
              <a:t>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A9E22E2-E6B6-F472-09B7-D75ACD5305D1}"/>
              </a:ext>
            </a:extLst>
          </p:cNvPr>
          <p:cNvSpPr txBox="1"/>
          <p:nvPr/>
        </p:nvSpPr>
        <p:spPr>
          <a:xfrm>
            <a:off x="5912380" y="2829448"/>
            <a:ext cx="6025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Vínculo del cliente con el hotel (Special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clientes que personalizan mucho su estancia aseguran su presencia. La falta de peticiones especiales (cero interacciones con el hotel) es un riesgo claro de cancelación.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537A46A-E6F4-E21B-54EB-CE8B7889F309}"/>
              </a:ext>
            </a:extLst>
          </p:cNvPr>
          <p:cNvSpPr txBox="1"/>
          <p:nvPr/>
        </p:nvSpPr>
        <p:spPr>
          <a:xfrm>
            <a:off x="5909268" y="4318074"/>
            <a:ext cx="5396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Sensibilidad al precio: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mayor precio por habitación, el algoritmo detecta un incremento directo en la probabilidad de abandono.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BEA87F2-47A3-FDD1-CC58-DE363749E6E5}"/>
              </a:ext>
            </a:extLst>
          </p:cNvPr>
          <p:cNvSpPr txBox="1"/>
          <p:nvPr/>
        </p:nvSpPr>
        <p:spPr>
          <a:xfrm>
            <a:off x="5891139" y="5591825"/>
            <a:ext cx="5396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Otros factores de riesgo:</a:t>
            </a: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Mes de llegada y tipo de canal por el que se realiza la reserva.</a:t>
            </a:r>
          </a:p>
        </p:txBody>
      </p:sp>
    </p:spTree>
    <p:extLst>
      <p:ext uri="{BB962C8B-B14F-4D97-AF65-F5344CB8AC3E}">
        <p14:creationId xmlns:p14="http://schemas.microsoft.com/office/powerpoint/2010/main" val="270915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7B295-8B38-52BA-7D41-664BBDD4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50430-985C-69A5-558E-BA87BD8F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7A66C-4C4C-15A0-32D9-E56BE6CCA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BA2398A-2CD3-258A-0562-C7D7FDA7A8A8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CREACIÓN DE PERFILES FIABLE VS RIESGO PARA LA TOMA DE MEJORES DECISIONES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2E4103-B945-D7C9-5C4B-B4B26ED15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8AA86C-E198-C4CC-E868-D17FEBEC603C}"/>
              </a:ext>
            </a:extLst>
          </p:cNvPr>
          <p:cNvSpPr/>
          <p:nvPr/>
        </p:nvSpPr>
        <p:spPr>
          <a:xfrm>
            <a:off x="1128408" y="191516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F8E874-7F64-ABB9-D39D-27817B49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3884" y="6408180"/>
            <a:ext cx="2743200" cy="365125"/>
          </a:xfrm>
        </p:spPr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oogle Shape;91;p13" descr="image.png">
            <a:extLst>
              <a:ext uri="{FF2B5EF4-FFF2-40B4-BE49-F238E27FC236}">
                <a16:creationId xmlns:a16="http://schemas.microsoft.com/office/drawing/2014/main" id="{1DD7575C-3B0D-DC3A-7077-559E8E2AF3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2934" y="241403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7;p13" descr="image.png">
            <a:extLst>
              <a:ext uri="{FF2B5EF4-FFF2-40B4-BE49-F238E27FC236}">
                <a16:creationId xmlns:a16="http://schemas.microsoft.com/office/drawing/2014/main" id="{2050E7D1-EC57-68E2-8D34-821BC5ED04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2959" y="259500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98;p13">
            <a:extLst>
              <a:ext uri="{FF2B5EF4-FFF2-40B4-BE49-F238E27FC236}">
                <a16:creationId xmlns:a16="http://schemas.microsoft.com/office/drawing/2014/main" id="{B1B9DADC-B17D-079A-5259-E1C22BAED11C}"/>
              </a:ext>
            </a:extLst>
          </p:cNvPr>
          <p:cNvSpPr txBox="1"/>
          <p:nvPr/>
        </p:nvSpPr>
        <p:spPr>
          <a:xfrm>
            <a:off x="2090184" y="2490230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latin typeface="Lato Light"/>
                <a:ea typeface="Lato Light"/>
                <a:cs typeface="Lato Light"/>
                <a:sym typeface="Lato Light"/>
              </a:rPr>
              <a:t>SEGMENTO CRÍTICO</a:t>
            </a:r>
            <a:endParaRPr dirty="0"/>
          </a:p>
        </p:txBody>
      </p:sp>
      <p:sp>
        <p:nvSpPr>
          <p:cNvPr id="17" name="Google Shape;99;p13">
            <a:extLst>
              <a:ext uri="{FF2B5EF4-FFF2-40B4-BE49-F238E27FC236}">
                <a16:creationId xmlns:a16="http://schemas.microsoft.com/office/drawing/2014/main" id="{80BEC009-3FAB-6217-2812-76FB96C964E3}"/>
              </a:ext>
            </a:extLst>
          </p:cNvPr>
          <p:cNvSpPr txBox="1"/>
          <p:nvPr/>
        </p:nvSpPr>
        <p:spPr>
          <a:xfrm>
            <a:off x="2090184" y="2680730"/>
            <a:ext cx="2514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latin typeface="Lato"/>
                <a:ea typeface="Lato"/>
                <a:cs typeface="Lato"/>
                <a:sym typeface="Lato"/>
              </a:rPr>
              <a:t>Cliente</a:t>
            </a:r>
            <a:r>
              <a:rPr lang="en-US" sz="2100" b="0" i="0" u="none" strike="noStrike" cap="none" dirty="0"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100" b="0" i="0" u="none" strike="noStrike" cap="none" dirty="0" err="1">
                <a:latin typeface="Lato"/>
                <a:ea typeface="Lato"/>
                <a:cs typeface="Lato"/>
                <a:sym typeface="Lato"/>
              </a:rPr>
              <a:t>riesgo</a:t>
            </a:r>
            <a:r>
              <a:rPr lang="en-US" sz="210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pic>
        <p:nvPicPr>
          <p:cNvPr id="19" name="Google Shape;100;p13" descr="image.png">
            <a:extLst>
              <a:ext uri="{FF2B5EF4-FFF2-40B4-BE49-F238E27FC236}">
                <a16:creationId xmlns:a16="http://schemas.microsoft.com/office/drawing/2014/main" id="{442A8CAC-CDC9-99E4-E8A4-3541A375E8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934" y="3357005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13">
            <a:extLst>
              <a:ext uri="{FF2B5EF4-FFF2-40B4-BE49-F238E27FC236}">
                <a16:creationId xmlns:a16="http://schemas.microsoft.com/office/drawing/2014/main" id="{7C965884-8827-6A1C-44E4-4C88446033AE}"/>
              </a:ext>
            </a:extLst>
          </p:cNvPr>
          <p:cNvSpPr txBox="1"/>
          <p:nvPr/>
        </p:nvSpPr>
        <p:spPr>
          <a:xfrm>
            <a:off x="1637746" y="3255613"/>
            <a:ext cx="404812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Antelación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Extrema (&gt;150 días). </a:t>
            </a:r>
            <a:endParaRPr dirty="0"/>
          </a:p>
        </p:txBody>
      </p:sp>
      <p:pic>
        <p:nvPicPr>
          <p:cNvPr id="21" name="Google Shape;102;p13" descr="image.png">
            <a:extLst>
              <a:ext uri="{FF2B5EF4-FFF2-40B4-BE49-F238E27FC236}">
                <a16:creationId xmlns:a16="http://schemas.microsoft.com/office/drawing/2014/main" id="{CBEC9106-5056-A1BD-2AE2-ACB41BE30A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6046" y="3888321"/>
            <a:ext cx="27682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03;p13">
            <a:extLst>
              <a:ext uri="{FF2B5EF4-FFF2-40B4-BE49-F238E27FC236}">
                <a16:creationId xmlns:a16="http://schemas.microsoft.com/office/drawing/2014/main" id="{3A80DD70-7FAB-3DC6-ED1A-825B278DFD06}"/>
              </a:ext>
            </a:extLst>
          </p:cNvPr>
          <p:cNvSpPr txBox="1"/>
          <p:nvPr/>
        </p:nvSpPr>
        <p:spPr>
          <a:xfrm>
            <a:off x="1619591" y="3797495"/>
            <a:ext cx="413325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Interacción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Cero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peticiones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especiales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Nulo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compromiso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hotel.</a:t>
            </a:r>
            <a:endParaRPr dirty="0"/>
          </a:p>
        </p:txBody>
      </p:sp>
      <p:pic>
        <p:nvPicPr>
          <p:cNvPr id="23" name="Google Shape;104;p13" descr="image.png">
            <a:extLst>
              <a:ext uri="{FF2B5EF4-FFF2-40B4-BE49-F238E27FC236}">
                <a16:creationId xmlns:a16="http://schemas.microsoft.com/office/drawing/2014/main" id="{0AC07708-CC6E-9938-9D6D-FE35AB7F0AF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6746" y="5140423"/>
            <a:ext cx="26193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05;p13">
            <a:extLst>
              <a:ext uri="{FF2B5EF4-FFF2-40B4-BE49-F238E27FC236}">
                <a16:creationId xmlns:a16="http://schemas.microsoft.com/office/drawing/2014/main" id="{B2F6BA0A-3849-3268-CF53-76AC1D8DFB19}"/>
              </a:ext>
            </a:extLst>
          </p:cNvPr>
          <p:cNvSpPr txBox="1"/>
          <p:nvPr/>
        </p:nvSpPr>
        <p:spPr>
          <a:xfrm>
            <a:off x="1661558" y="5102323"/>
            <a:ext cx="4148137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Canal: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Reserva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100% Online. </a:t>
            </a:r>
            <a:endParaRPr dirty="0"/>
          </a:p>
        </p:txBody>
      </p:sp>
      <p:pic>
        <p:nvPicPr>
          <p:cNvPr id="25" name="Google Shape;106;p13" descr="image.png">
            <a:extLst>
              <a:ext uri="{FF2B5EF4-FFF2-40B4-BE49-F238E27FC236}">
                <a16:creationId xmlns:a16="http://schemas.microsoft.com/office/drawing/2014/main" id="{71A3C874-2319-425B-1519-7C485644A7A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32934" y="5687951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7;p13">
            <a:extLst>
              <a:ext uri="{FF2B5EF4-FFF2-40B4-BE49-F238E27FC236}">
                <a16:creationId xmlns:a16="http://schemas.microsoft.com/office/drawing/2014/main" id="{B9E7A6AA-C42D-6C75-241A-765002071DD3}"/>
              </a:ext>
            </a:extLst>
          </p:cNvPr>
          <p:cNvSpPr txBox="1"/>
          <p:nvPr/>
        </p:nvSpPr>
        <p:spPr>
          <a:xfrm>
            <a:off x="1661558" y="5649851"/>
            <a:ext cx="3240051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Logística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Sin plaza de parking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solicitada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7" name="Google Shape;108;p13" descr="image.png">
            <a:extLst>
              <a:ext uri="{FF2B5EF4-FFF2-40B4-BE49-F238E27FC236}">
                <a16:creationId xmlns:a16="http://schemas.microsoft.com/office/drawing/2014/main" id="{0784CE51-1EC4-029F-74FC-E5A531CBFD9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71035" y="6252708"/>
            <a:ext cx="2857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6;p13" descr="image.png">
            <a:extLst>
              <a:ext uri="{FF2B5EF4-FFF2-40B4-BE49-F238E27FC236}">
                <a16:creationId xmlns:a16="http://schemas.microsoft.com/office/drawing/2014/main" id="{EB01EC94-4289-B9F3-0F84-22BBCD5C486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051" y="2010758"/>
            <a:ext cx="5238750" cy="5005398"/>
          </a:xfrm>
          <a:prstGeom prst="rect">
            <a:avLst/>
          </a:prstGeom>
          <a:solidFill>
            <a:srgbClr val="FF0000">
              <a:alpha val="9872"/>
            </a:srgbClr>
          </a:solidFill>
          <a:ln>
            <a:noFill/>
          </a:ln>
        </p:spPr>
      </p:pic>
      <p:sp>
        <p:nvSpPr>
          <p:cNvPr id="28" name="Google Shape;109;p13">
            <a:extLst>
              <a:ext uri="{FF2B5EF4-FFF2-40B4-BE49-F238E27FC236}">
                <a16:creationId xmlns:a16="http://schemas.microsoft.com/office/drawing/2014/main" id="{6CD30A28-FBB0-D1E7-EA96-36B98B6270F3}"/>
              </a:ext>
            </a:extLst>
          </p:cNvPr>
          <p:cNvSpPr txBox="1"/>
          <p:nvPr/>
        </p:nvSpPr>
        <p:spPr>
          <a:xfrm>
            <a:off x="1635863" y="6193008"/>
            <a:ext cx="3473967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Historial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Cliente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nuevo.</a:t>
            </a:r>
            <a:endParaRPr dirty="0"/>
          </a:p>
        </p:txBody>
      </p:sp>
      <p:pic>
        <p:nvPicPr>
          <p:cNvPr id="46" name="Google Shape;87;p13" descr="image.png">
            <a:extLst>
              <a:ext uri="{FF2B5EF4-FFF2-40B4-BE49-F238E27FC236}">
                <a16:creationId xmlns:a16="http://schemas.microsoft.com/office/drawing/2014/main" id="{F834F002-AC22-CB55-2073-2C33705D67B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76425" y="2010757"/>
            <a:ext cx="5238750" cy="5005399"/>
          </a:xfrm>
          <a:prstGeom prst="rect">
            <a:avLst/>
          </a:prstGeom>
          <a:solidFill>
            <a:srgbClr val="00B050">
              <a:alpha val="10240"/>
            </a:srgbClr>
          </a:solidFill>
          <a:ln>
            <a:noFill/>
          </a:ln>
        </p:spPr>
      </p:pic>
      <p:pic>
        <p:nvPicPr>
          <p:cNvPr id="61" name="Google Shape;94;p13" descr="image.png">
            <a:extLst>
              <a:ext uri="{FF2B5EF4-FFF2-40B4-BE49-F238E27FC236}">
                <a16:creationId xmlns:a16="http://schemas.microsoft.com/office/drawing/2014/main" id="{BC928CA3-5484-0A15-7226-F35E3B01584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52684" y="2414030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111;p13" descr="image.png">
            <a:extLst>
              <a:ext uri="{FF2B5EF4-FFF2-40B4-BE49-F238E27FC236}">
                <a16:creationId xmlns:a16="http://schemas.microsoft.com/office/drawing/2014/main" id="{402511B5-9707-DBD6-6981-00B181ED688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95559" y="259500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112;p13">
            <a:extLst>
              <a:ext uri="{FF2B5EF4-FFF2-40B4-BE49-F238E27FC236}">
                <a16:creationId xmlns:a16="http://schemas.microsoft.com/office/drawing/2014/main" id="{09E0784E-9F85-449B-A1C1-0E3017B21703}"/>
              </a:ext>
            </a:extLst>
          </p:cNvPr>
          <p:cNvSpPr txBox="1"/>
          <p:nvPr/>
        </p:nvSpPr>
        <p:spPr>
          <a:xfrm>
            <a:off x="7709934" y="2490230"/>
            <a:ext cx="3038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latin typeface="Lato Light"/>
                <a:ea typeface="Lato Light"/>
                <a:cs typeface="Lato Light"/>
                <a:sym typeface="Lato Light"/>
              </a:rPr>
              <a:t>SEGMENTO FIDELIZADO</a:t>
            </a:r>
            <a:endParaRPr/>
          </a:p>
        </p:txBody>
      </p:sp>
      <p:sp>
        <p:nvSpPr>
          <p:cNvPr id="2048" name="Google Shape;113;p13">
            <a:extLst>
              <a:ext uri="{FF2B5EF4-FFF2-40B4-BE49-F238E27FC236}">
                <a16:creationId xmlns:a16="http://schemas.microsoft.com/office/drawing/2014/main" id="{60FE986E-0215-4CDC-1236-41510117FB06}"/>
              </a:ext>
            </a:extLst>
          </p:cNvPr>
          <p:cNvSpPr txBox="1"/>
          <p:nvPr/>
        </p:nvSpPr>
        <p:spPr>
          <a:xfrm>
            <a:off x="7709934" y="2680730"/>
            <a:ext cx="30384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latin typeface="Lato"/>
                <a:ea typeface="Lato"/>
                <a:cs typeface="Lato"/>
                <a:sym typeface="Lato"/>
              </a:rPr>
              <a:t>Cliente</a:t>
            </a:r>
            <a:r>
              <a:rPr lang="en-US" sz="210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latin typeface="Lato"/>
                <a:ea typeface="Lato"/>
                <a:cs typeface="Lato"/>
                <a:sym typeface="Lato"/>
              </a:rPr>
              <a:t>fiable</a:t>
            </a:r>
            <a:endParaRPr dirty="0"/>
          </a:p>
        </p:txBody>
      </p:sp>
      <p:pic>
        <p:nvPicPr>
          <p:cNvPr id="2049" name="Google Shape;114;p13" descr="image.png">
            <a:extLst>
              <a:ext uri="{FF2B5EF4-FFF2-40B4-BE49-F238E27FC236}">
                <a16:creationId xmlns:a16="http://schemas.microsoft.com/office/drawing/2014/main" id="{F11144C6-0328-0137-2240-C03CB0F9175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52684" y="3357005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115;p13">
            <a:extLst>
              <a:ext uri="{FF2B5EF4-FFF2-40B4-BE49-F238E27FC236}">
                <a16:creationId xmlns:a16="http://schemas.microsoft.com/office/drawing/2014/main" id="{75956F0E-B1A5-C6E2-1338-6E969628FC8A}"/>
              </a:ext>
            </a:extLst>
          </p:cNvPr>
          <p:cNvSpPr txBox="1"/>
          <p:nvPr/>
        </p:nvSpPr>
        <p:spPr>
          <a:xfrm>
            <a:off x="7281309" y="3318905"/>
            <a:ext cx="4151213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Antelación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Corta (&lt;40 días).</a:t>
            </a:r>
            <a:endParaRPr dirty="0"/>
          </a:p>
        </p:txBody>
      </p:sp>
      <p:pic>
        <p:nvPicPr>
          <p:cNvPr id="2053" name="Google Shape;116;p13" descr="image.png">
            <a:extLst>
              <a:ext uri="{FF2B5EF4-FFF2-40B4-BE49-F238E27FC236}">
                <a16:creationId xmlns:a16="http://schemas.microsoft.com/office/drawing/2014/main" id="{8162627F-21E8-6898-7D0A-2D6D78DC0E9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52684" y="3867278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117;p13">
            <a:extLst>
              <a:ext uri="{FF2B5EF4-FFF2-40B4-BE49-F238E27FC236}">
                <a16:creationId xmlns:a16="http://schemas.microsoft.com/office/drawing/2014/main" id="{87FC3447-83D2-DE67-595A-CC736AB240D0}"/>
              </a:ext>
            </a:extLst>
          </p:cNvPr>
          <p:cNvSpPr txBox="1"/>
          <p:nvPr/>
        </p:nvSpPr>
        <p:spPr>
          <a:xfrm>
            <a:off x="7281309" y="3829178"/>
            <a:ext cx="2681398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Interacción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Alta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personalización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(2+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peticiones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especiales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pic>
        <p:nvPicPr>
          <p:cNvPr id="2056" name="Google Shape;118;p13" descr="image.png">
            <a:extLst>
              <a:ext uri="{FF2B5EF4-FFF2-40B4-BE49-F238E27FC236}">
                <a16:creationId xmlns:a16="http://schemas.microsoft.com/office/drawing/2014/main" id="{7EC52441-E7F3-B45E-B57C-B097C65CD98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63999" y="5059632"/>
            <a:ext cx="28396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119;p13">
            <a:extLst>
              <a:ext uri="{FF2B5EF4-FFF2-40B4-BE49-F238E27FC236}">
                <a16:creationId xmlns:a16="http://schemas.microsoft.com/office/drawing/2014/main" id="{BEBF0939-9C4C-3690-8522-13956A6DC448}"/>
              </a:ext>
            </a:extLst>
          </p:cNvPr>
          <p:cNvSpPr txBox="1"/>
          <p:nvPr/>
        </p:nvSpPr>
        <p:spPr>
          <a:xfrm>
            <a:off x="7290838" y="5021532"/>
            <a:ext cx="196017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Canal: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Reserva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Offline.</a:t>
            </a:r>
            <a:endParaRPr dirty="0"/>
          </a:p>
        </p:txBody>
      </p:sp>
      <p:pic>
        <p:nvPicPr>
          <p:cNvPr id="2058" name="Google Shape;120;p13" descr="image.png">
            <a:extLst>
              <a:ext uri="{FF2B5EF4-FFF2-40B4-BE49-F238E27FC236}">
                <a16:creationId xmlns:a16="http://schemas.microsoft.com/office/drawing/2014/main" id="{51468DD4-B94A-FD93-6D7E-0B97A19969DE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862213" y="5627263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121;p13">
            <a:extLst>
              <a:ext uri="{FF2B5EF4-FFF2-40B4-BE49-F238E27FC236}">
                <a16:creationId xmlns:a16="http://schemas.microsoft.com/office/drawing/2014/main" id="{4C1DCA75-5FA4-36C5-B11A-2E25ABF68911}"/>
              </a:ext>
            </a:extLst>
          </p:cNvPr>
          <p:cNvSpPr txBox="1"/>
          <p:nvPr/>
        </p:nvSpPr>
        <p:spPr>
          <a:xfrm>
            <a:off x="7290838" y="5589163"/>
            <a:ext cx="320992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Logística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Reserva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plaza de parking.</a:t>
            </a:r>
            <a:endParaRPr dirty="0"/>
          </a:p>
        </p:txBody>
      </p:sp>
      <p:pic>
        <p:nvPicPr>
          <p:cNvPr id="2060" name="Google Shape;122;p13" descr="image.png">
            <a:extLst>
              <a:ext uri="{FF2B5EF4-FFF2-40B4-BE49-F238E27FC236}">
                <a16:creationId xmlns:a16="http://schemas.microsoft.com/office/drawing/2014/main" id="{A6D6CCC5-E75E-19FE-6DA4-AB34F5D2D6E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862213" y="6170464"/>
            <a:ext cx="2857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123;p13">
            <a:extLst>
              <a:ext uri="{FF2B5EF4-FFF2-40B4-BE49-F238E27FC236}">
                <a16:creationId xmlns:a16="http://schemas.microsoft.com/office/drawing/2014/main" id="{1F5ACD0E-6A6F-C78E-DC66-3A8A4E1AEE7B}"/>
              </a:ext>
            </a:extLst>
          </p:cNvPr>
          <p:cNvSpPr txBox="1"/>
          <p:nvPr/>
        </p:nvSpPr>
        <p:spPr>
          <a:xfrm>
            <a:off x="7272380" y="6098879"/>
            <a:ext cx="35623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Historial</a:t>
            </a:r>
            <a:r>
              <a:rPr lang="en-US" sz="1350" b="1" i="0" u="none" strike="noStrike" cap="none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Huésped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latin typeface="Lato"/>
                <a:ea typeface="Lato"/>
                <a:cs typeface="Lato"/>
                <a:sym typeface="Lato"/>
              </a:rPr>
              <a:t>repetidor</a:t>
            </a:r>
            <a:r>
              <a:rPr lang="en-US" sz="1350" b="0" i="0" u="none" strike="noStrike" cap="none" dirty="0"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63" name="Google Shape;103;p13">
            <a:extLst>
              <a:ext uri="{FF2B5EF4-FFF2-40B4-BE49-F238E27FC236}">
                <a16:creationId xmlns:a16="http://schemas.microsoft.com/office/drawing/2014/main" id="{E64FA8D3-DC9F-D7D3-64DD-6A7AC82E5742}"/>
              </a:ext>
            </a:extLst>
          </p:cNvPr>
          <p:cNvSpPr txBox="1"/>
          <p:nvPr/>
        </p:nvSpPr>
        <p:spPr>
          <a:xfrm>
            <a:off x="1619591" y="4563438"/>
            <a:ext cx="4133254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Precio</a:t>
            </a:r>
            <a:r>
              <a:rPr lang="en-US" sz="135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latin typeface="Lato"/>
                <a:ea typeface="Lato"/>
                <a:cs typeface="Lato"/>
                <a:sym typeface="Lato"/>
              </a:rPr>
              <a:t>habitación</a:t>
            </a:r>
            <a:r>
              <a:rPr lang="en-US" sz="1350" b="1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dirty="0">
                <a:latin typeface="Lato"/>
                <a:ea typeface="Lato"/>
                <a:cs typeface="Lato"/>
                <a:sym typeface="Lato"/>
              </a:rPr>
              <a:t>Alto (&gt;120€).</a:t>
            </a:r>
            <a:endParaRPr dirty="0"/>
          </a:p>
        </p:txBody>
      </p:sp>
      <p:pic>
        <p:nvPicPr>
          <p:cNvPr id="2065" name="Gráfico 2064" descr="Dólar con relleno sólido">
            <a:extLst>
              <a:ext uri="{FF2B5EF4-FFF2-40B4-BE49-F238E27FC236}">
                <a16:creationId xmlns:a16="http://schemas.microsoft.com/office/drawing/2014/main" id="{6C748E44-F614-EB5B-9C91-7791679804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26072" y="4592795"/>
            <a:ext cx="236768" cy="236768"/>
          </a:xfrm>
          <a:prstGeom prst="rect">
            <a:avLst/>
          </a:prstGeom>
        </p:spPr>
      </p:pic>
      <p:sp>
        <p:nvSpPr>
          <p:cNvPr id="2066" name="Google Shape;103;p13">
            <a:extLst>
              <a:ext uri="{FF2B5EF4-FFF2-40B4-BE49-F238E27FC236}">
                <a16:creationId xmlns:a16="http://schemas.microsoft.com/office/drawing/2014/main" id="{379A3DFD-F18E-0940-9C6B-337874C922BF}"/>
              </a:ext>
            </a:extLst>
          </p:cNvPr>
          <p:cNvSpPr txBox="1"/>
          <p:nvPr/>
        </p:nvSpPr>
        <p:spPr>
          <a:xfrm>
            <a:off x="7272380" y="4525599"/>
            <a:ext cx="4133254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latin typeface="Lato"/>
                <a:ea typeface="Lato"/>
                <a:cs typeface="Lato"/>
                <a:sym typeface="Lato"/>
              </a:rPr>
              <a:t>Precio</a:t>
            </a:r>
            <a:r>
              <a:rPr lang="en-US" sz="1350" b="1" dirty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dirty="0" err="1">
                <a:latin typeface="Lato"/>
                <a:ea typeface="Lato"/>
                <a:cs typeface="Lato"/>
                <a:sym typeface="Lato"/>
              </a:rPr>
              <a:t>habitación</a:t>
            </a:r>
            <a:r>
              <a:rPr lang="en-US" sz="1350" b="1" dirty="0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dirty="0">
                <a:latin typeface="Lato"/>
                <a:ea typeface="Lato"/>
                <a:cs typeface="Lato"/>
                <a:sym typeface="Lato"/>
              </a:rPr>
              <a:t>Bajo (&lt;90€).</a:t>
            </a:r>
            <a:endParaRPr dirty="0"/>
          </a:p>
        </p:txBody>
      </p:sp>
      <p:pic>
        <p:nvPicPr>
          <p:cNvPr id="2067" name="Gráfico 2066" descr="Dólar con relleno sólido">
            <a:extLst>
              <a:ext uri="{FF2B5EF4-FFF2-40B4-BE49-F238E27FC236}">
                <a16:creationId xmlns:a16="http://schemas.microsoft.com/office/drawing/2014/main" id="{540550F5-6878-37D4-C546-B0A2F45F4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78861" y="4554956"/>
            <a:ext cx="236768" cy="2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26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F6BFF-EA0C-15DF-6342-622E4528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1622224-91A0-F52D-4152-E14A02595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6B451-0476-FB62-628C-F734CFE7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A80F84-D2BB-837B-BD16-0DADD17D4C98}"/>
              </a:ext>
            </a:extLst>
          </p:cNvPr>
          <p:cNvSpPr/>
          <p:nvPr/>
        </p:nvSpPr>
        <p:spPr>
          <a:xfrm>
            <a:off x="-11" y="-22531"/>
            <a:ext cx="12191990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DESPLAZAMIENTO DEL UMBRAL PARA AUMENTAR LA PRECISIÓN</a:t>
            </a:r>
            <a:endParaRPr lang="es-ES" sz="32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A0A25B-066A-AE51-AB26-BA18B61F9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F660E6-FB41-5824-D1D7-BF5AC86A8B0C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9189B4-1680-7E8A-EFE5-417835EC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Google Shape;129;p17">
            <a:extLst>
              <a:ext uri="{FF2B5EF4-FFF2-40B4-BE49-F238E27FC236}">
                <a16:creationId xmlns:a16="http://schemas.microsoft.com/office/drawing/2014/main" id="{6AEB971A-9989-C175-1E21-D3A9AC90B8CD}"/>
              </a:ext>
            </a:extLst>
          </p:cNvPr>
          <p:cNvSpPr txBox="1"/>
          <p:nvPr/>
        </p:nvSpPr>
        <p:spPr>
          <a:xfrm>
            <a:off x="6028639" y="4299567"/>
            <a:ext cx="5667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Casi 9 de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cada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10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alertas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de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cancelación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son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aciertos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reales.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30;p17">
            <a:extLst>
              <a:ext uri="{FF2B5EF4-FFF2-40B4-BE49-F238E27FC236}">
                <a16:creationId xmlns:a16="http://schemas.microsoft.com/office/drawing/2014/main" id="{9ADEC164-8526-1552-0A96-D46D071E8BAD}"/>
              </a:ext>
            </a:extLst>
          </p:cNvPr>
          <p:cNvSpPr txBox="1"/>
          <p:nvPr/>
        </p:nvSpPr>
        <p:spPr>
          <a:xfrm>
            <a:off x="6028638" y="4880934"/>
            <a:ext cx="5667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Reducimos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drásticamente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los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Falsos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Positivos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,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protegiendo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al hotel de </a:t>
            </a:r>
            <a:r>
              <a:rPr lang="en-US" sz="1500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falta</a:t>
            </a:r>
            <a:r>
              <a:rPr lang="en-US" sz="1500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de </a:t>
            </a:r>
            <a:r>
              <a:rPr lang="en-US" sz="1500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habitaciones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oogle Shape;131;p17" descr="image.png">
            <a:extLst>
              <a:ext uri="{FF2B5EF4-FFF2-40B4-BE49-F238E27FC236}">
                <a16:creationId xmlns:a16="http://schemas.microsoft.com/office/drawing/2014/main" id="{9C8A312C-AC08-C411-5741-815125CF3B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9758" y="43488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32;p17" descr="image.png">
            <a:extLst>
              <a:ext uri="{FF2B5EF4-FFF2-40B4-BE49-F238E27FC236}">
                <a16:creationId xmlns:a16="http://schemas.microsoft.com/office/drawing/2014/main" id="{4BF2D88B-4C05-2153-8738-A64C866DF6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5470" y="496392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18;p16">
            <a:extLst>
              <a:ext uri="{FF2B5EF4-FFF2-40B4-BE49-F238E27FC236}">
                <a16:creationId xmlns:a16="http://schemas.microsoft.com/office/drawing/2014/main" id="{56CA085D-56BC-65B9-1C1B-C2E49A31C941}"/>
              </a:ext>
            </a:extLst>
          </p:cNvPr>
          <p:cNvSpPr txBox="1"/>
          <p:nvPr/>
        </p:nvSpPr>
        <p:spPr>
          <a:xfrm>
            <a:off x="5741781" y="2806947"/>
            <a:ext cx="52387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Hemos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decidido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ser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más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exigentes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con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modelo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 En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lugar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de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actuar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con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threshold </a:t>
            </a:r>
            <a:r>
              <a:rPr lang="en-US" sz="1500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estándar</a:t>
            </a:r>
            <a:r>
              <a:rPr lang="en-US" sz="1500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,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ahora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solo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marcamos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una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reserva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como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"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cancelación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"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si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modelo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5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tiene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un </a:t>
            </a:r>
            <a:r>
              <a:rPr lang="en-US" sz="15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70% de </a:t>
            </a:r>
            <a:r>
              <a:rPr lang="en-US" sz="1500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certeza</a:t>
            </a:r>
            <a:r>
              <a:rPr lang="en-US" sz="15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Google Shape;120;p16">
            <a:extLst>
              <a:ext uri="{FF2B5EF4-FFF2-40B4-BE49-F238E27FC236}">
                <a16:creationId xmlns:a16="http://schemas.microsoft.com/office/drawing/2014/main" id="{722B89EA-0ECF-AD11-EF3F-2E517D95EA3D}"/>
              </a:ext>
            </a:extLst>
          </p:cNvPr>
          <p:cNvSpPr txBox="1"/>
          <p:nvPr/>
        </p:nvSpPr>
        <p:spPr>
          <a:xfrm>
            <a:off x="5741781" y="249055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Moviendo</a:t>
            </a:r>
            <a:r>
              <a:rPr lang="en-US" sz="1404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404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404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threshold a 0.7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62B981-FAD1-03B1-092D-B850A5C3F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" y="2744743"/>
            <a:ext cx="5238750" cy="2656582"/>
          </a:xfrm>
          <a:prstGeom prst="rect">
            <a:avLst/>
          </a:prstGeom>
        </p:spPr>
      </p:pic>
      <p:sp>
        <p:nvSpPr>
          <p:cNvPr id="15" name="Google Shape;126;p17">
            <a:extLst>
              <a:ext uri="{FF2B5EF4-FFF2-40B4-BE49-F238E27FC236}">
                <a16:creationId xmlns:a16="http://schemas.microsoft.com/office/drawing/2014/main" id="{F90F5FDC-814C-471E-5CD9-B81F4BB44C6A}"/>
              </a:ext>
            </a:extLst>
          </p:cNvPr>
          <p:cNvSpPr txBox="1"/>
          <p:nvPr/>
        </p:nvSpPr>
        <p:spPr>
          <a:xfrm>
            <a:off x="623333" y="2876640"/>
            <a:ext cx="459174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84CC15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89.47%</a:t>
            </a:r>
            <a:endParaRPr sz="1600" dirty="0">
              <a:solidFill>
                <a:srgbClr val="84CC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9A2E0D-B284-CE08-8898-1DD7BA5E9620}"/>
              </a:ext>
            </a:extLst>
          </p:cNvPr>
          <p:cNvSpPr txBox="1"/>
          <p:nvPr/>
        </p:nvSpPr>
        <p:spPr>
          <a:xfrm>
            <a:off x="426720" y="4500880"/>
            <a:ext cx="474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84CC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Precisión con el </a:t>
            </a:r>
            <a:r>
              <a:rPr lang="es-ES" sz="2400" dirty="0" err="1">
                <a:solidFill>
                  <a:srgbClr val="84CC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r>
              <a:rPr lang="es-ES" sz="2400" dirty="0">
                <a:solidFill>
                  <a:srgbClr val="84CC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0.7</a:t>
            </a:r>
          </a:p>
        </p:txBody>
      </p:sp>
    </p:spTree>
    <p:extLst>
      <p:ext uri="{BB962C8B-B14F-4D97-AF65-F5344CB8AC3E}">
        <p14:creationId xmlns:p14="http://schemas.microsoft.com/office/powerpoint/2010/main" val="194543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7EDF4-45B3-88FF-569B-22F5E19B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9A5F9C-5E5F-8D3E-2837-768D935D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FCEAEF-0805-47A7-4D0F-77C0DC592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011C4D-8B31-8E82-0589-E2B9EA996E1F}"/>
              </a:ext>
            </a:extLst>
          </p:cNvPr>
          <p:cNvSpPr/>
          <p:nvPr/>
        </p:nvSpPr>
        <p:spPr>
          <a:xfrm>
            <a:off x="-11" y="-22531"/>
            <a:ext cx="12191990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LOS BENEFICIOS DEL HOTEL PUEDEN ASCENDER HASTA EN UN 35.8%</a:t>
            </a:r>
            <a:endParaRPr lang="es-ES" sz="32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DF447C-773B-5618-0341-86ED0335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8BDA87E-0B99-B5C9-A7E7-D90CFB3A2B37}"/>
              </a:ext>
            </a:extLst>
          </p:cNvPr>
          <p:cNvSpPr/>
          <p:nvPr/>
        </p:nvSpPr>
        <p:spPr>
          <a:xfrm>
            <a:off x="997689" y="1844284"/>
            <a:ext cx="687837" cy="3388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AB6AB7-7F44-848B-99FE-F77F13A9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170;p20" descr="image.png">
            <a:extLst>
              <a:ext uri="{FF2B5EF4-FFF2-40B4-BE49-F238E27FC236}">
                <a16:creationId xmlns:a16="http://schemas.microsoft.com/office/drawing/2014/main" id="{B0D6862A-B24D-8286-EF47-FA4E144DEE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912767"/>
            <a:ext cx="4294198" cy="217920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1;p20">
            <a:extLst>
              <a:ext uri="{FF2B5EF4-FFF2-40B4-BE49-F238E27FC236}">
                <a16:creationId xmlns:a16="http://schemas.microsoft.com/office/drawing/2014/main" id="{BA80F4EC-A022-38CE-35D5-151C5D324571}"/>
              </a:ext>
            </a:extLst>
          </p:cNvPr>
          <p:cNvSpPr txBox="1"/>
          <p:nvPr/>
        </p:nvSpPr>
        <p:spPr>
          <a:xfrm>
            <a:off x="1333500" y="2038266"/>
            <a:ext cx="3482204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24</a:t>
            </a:r>
            <a:r>
              <a:rPr lang="en-US" sz="8800" b="1" i="0" u="none" strike="noStrike" cap="none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%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72;p20">
            <a:extLst>
              <a:ext uri="{FF2B5EF4-FFF2-40B4-BE49-F238E27FC236}">
                <a16:creationId xmlns:a16="http://schemas.microsoft.com/office/drawing/2014/main" id="{9DB3FCAB-9873-AD67-B615-52775DA8B8E7}"/>
              </a:ext>
            </a:extLst>
          </p:cNvPr>
          <p:cNvSpPr txBox="1"/>
          <p:nvPr/>
        </p:nvSpPr>
        <p:spPr>
          <a:xfrm>
            <a:off x="1156851" y="3247277"/>
            <a:ext cx="348220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84CC15"/>
                </a:solidFill>
                <a:latin typeface="Arial" panose="020B0604020202020204" pitchFamily="34" charset="0"/>
                <a:ea typeface="Urbanist Medium"/>
                <a:cs typeface="Arial" panose="020B0604020202020204" pitchFamily="34" charset="0"/>
                <a:sym typeface="Urbanist Medium"/>
              </a:rPr>
              <a:t>Overbooking Total </a:t>
            </a:r>
            <a:r>
              <a:rPr lang="en-US" sz="2400" b="0" i="0" u="none" strike="noStrike" cap="none" dirty="0" err="1">
                <a:solidFill>
                  <a:srgbClr val="84CC15"/>
                </a:solidFill>
                <a:latin typeface="Arial" panose="020B0604020202020204" pitchFamily="34" charset="0"/>
                <a:ea typeface="Urbanist Medium"/>
                <a:cs typeface="Arial" panose="020B0604020202020204" pitchFamily="34" charset="0"/>
                <a:sym typeface="Urbanist Medium"/>
              </a:rPr>
              <a:t>Sugerido</a:t>
            </a:r>
            <a:endParaRPr dirty="0">
              <a:solidFill>
                <a:srgbClr val="84CC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173;p20">
            <a:extLst>
              <a:ext uri="{FF2B5EF4-FFF2-40B4-BE49-F238E27FC236}">
                <a16:creationId xmlns:a16="http://schemas.microsoft.com/office/drawing/2014/main" id="{49531B63-CBD9-61F1-E8B8-69843D79CF7B}"/>
              </a:ext>
            </a:extLst>
          </p:cNvPr>
          <p:cNvSpPr txBox="1"/>
          <p:nvPr/>
        </p:nvSpPr>
        <p:spPr>
          <a:xfrm>
            <a:off x="5909229" y="2973537"/>
            <a:ext cx="548122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14% </a:t>
            </a:r>
            <a:r>
              <a:rPr lang="en-US" sz="1600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Fiable</a:t>
            </a: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: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Basado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en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umbral de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máxima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seguridad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(0.7).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174;p20">
            <a:extLst>
              <a:ext uri="{FF2B5EF4-FFF2-40B4-BE49-F238E27FC236}">
                <a16:creationId xmlns:a16="http://schemas.microsoft.com/office/drawing/2014/main" id="{A79F0050-673B-0B89-797C-FA1F6446445F}"/>
              </a:ext>
            </a:extLst>
          </p:cNvPr>
          <p:cNvSpPr txBox="1"/>
          <p:nvPr/>
        </p:nvSpPr>
        <p:spPr>
          <a:xfrm>
            <a:off x="5889763" y="3617634"/>
            <a:ext cx="560515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+ 10% </a:t>
            </a:r>
            <a:r>
              <a:rPr lang="en-US" sz="1600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Estratégico</a:t>
            </a: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: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El 20% de las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reservas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que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nuestro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modelo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predice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que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van a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salir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adelante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acaban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siendo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canceladas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Google Shape;175;p20">
            <a:extLst>
              <a:ext uri="{FF2B5EF4-FFF2-40B4-BE49-F238E27FC236}">
                <a16:creationId xmlns:a16="http://schemas.microsoft.com/office/drawing/2014/main" id="{B4D87E93-4175-9BFF-8099-E963D9EECDEA}"/>
              </a:ext>
            </a:extLst>
          </p:cNvPr>
          <p:cNvSpPr/>
          <p:nvPr/>
        </p:nvSpPr>
        <p:spPr>
          <a:xfrm>
            <a:off x="5909228" y="4791828"/>
            <a:ext cx="5238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9" name="Google Shape;176;p20">
            <a:extLst>
              <a:ext uri="{FF2B5EF4-FFF2-40B4-BE49-F238E27FC236}">
                <a16:creationId xmlns:a16="http://schemas.microsoft.com/office/drawing/2014/main" id="{67500EAC-0647-6ADC-2B18-B883D142DB88}"/>
              </a:ext>
            </a:extLst>
          </p:cNvPr>
          <p:cNvSpPr txBox="1"/>
          <p:nvPr/>
        </p:nvSpPr>
        <p:spPr>
          <a:xfrm>
            <a:off x="5909229" y="4819252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Esta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cifra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es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el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punto de </a:t>
            </a:r>
            <a:r>
              <a:rPr lang="en-US" sz="1600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equilibrio</a:t>
            </a:r>
            <a:r>
              <a:rPr lang="en-US" sz="1600" b="1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donde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maximizamos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los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beneficios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sin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dejar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a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ningún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cliente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sin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habitación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Google Shape;178;p20">
            <a:extLst>
              <a:ext uri="{FF2B5EF4-FFF2-40B4-BE49-F238E27FC236}">
                <a16:creationId xmlns:a16="http://schemas.microsoft.com/office/drawing/2014/main" id="{D0749FFB-083D-2DF0-C7C2-8AA846B4F33E}"/>
              </a:ext>
            </a:extLst>
          </p:cNvPr>
          <p:cNvSpPr txBox="1"/>
          <p:nvPr/>
        </p:nvSpPr>
        <p:spPr>
          <a:xfrm>
            <a:off x="5889764" y="2446059"/>
            <a:ext cx="55006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Composición</a:t>
            </a:r>
            <a:r>
              <a:rPr lang="en-US" sz="1600" b="1" i="0" u="none" strike="noStrike" cap="none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de la </a:t>
            </a:r>
            <a:r>
              <a:rPr lang="en-US" sz="1600" b="1" i="0" u="none" strike="noStrike" cap="none" dirty="0" err="1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Estrategia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oogle Shape;170;p20" descr="image.png">
            <a:extLst>
              <a:ext uri="{FF2B5EF4-FFF2-40B4-BE49-F238E27FC236}">
                <a16:creationId xmlns:a16="http://schemas.microsoft.com/office/drawing/2014/main" id="{64994716-4F4D-56B7-8617-C570BCD6BA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4368678"/>
            <a:ext cx="4294198" cy="2179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71;p20">
            <a:extLst>
              <a:ext uri="{FF2B5EF4-FFF2-40B4-BE49-F238E27FC236}">
                <a16:creationId xmlns:a16="http://schemas.microsoft.com/office/drawing/2014/main" id="{3B803208-8740-BF0E-281C-32D3FD9C0E70}"/>
              </a:ext>
            </a:extLst>
          </p:cNvPr>
          <p:cNvSpPr txBox="1"/>
          <p:nvPr/>
        </p:nvSpPr>
        <p:spPr>
          <a:xfrm>
            <a:off x="1026492" y="4501872"/>
            <a:ext cx="407795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+</a:t>
            </a:r>
            <a:r>
              <a:rPr lang="en-US" sz="8000" b="1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35</a:t>
            </a:r>
            <a:r>
              <a:rPr lang="en-US" sz="8000" b="1" i="0" u="none" strike="noStrike" cap="none" dirty="0">
                <a:solidFill>
                  <a:srgbClr val="84CC16"/>
                </a:solidFill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.8 %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Google Shape;172;p20">
            <a:extLst>
              <a:ext uri="{FF2B5EF4-FFF2-40B4-BE49-F238E27FC236}">
                <a16:creationId xmlns:a16="http://schemas.microsoft.com/office/drawing/2014/main" id="{B6F6FA21-776E-2892-ABF1-22A122DDAE64}"/>
              </a:ext>
            </a:extLst>
          </p:cNvPr>
          <p:cNvSpPr txBox="1"/>
          <p:nvPr/>
        </p:nvSpPr>
        <p:spPr>
          <a:xfrm>
            <a:off x="1256640" y="5866171"/>
            <a:ext cx="34822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84CC15"/>
                </a:solidFill>
                <a:latin typeface="Arial" panose="020B0604020202020204" pitchFamily="34" charset="0"/>
                <a:ea typeface="Urbanist Medium"/>
                <a:cs typeface="Arial" panose="020B0604020202020204" pitchFamily="34" charset="0"/>
                <a:sym typeface="Urbanist Medium"/>
              </a:rPr>
              <a:t>Incremento</a:t>
            </a:r>
            <a:r>
              <a:rPr lang="en-US" sz="2400" b="0" i="0" u="none" strike="noStrike" cap="none" dirty="0">
                <a:solidFill>
                  <a:srgbClr val="84CC15"/>
                </a:solidFill>
                <a:latin typeface="Arial" panose="020B0604020202020204" pitchFamily="34" charset="0"/>
                <a:ea typeface="Urbanist Medium"/>
                <a:cs typeface="Arial" panose="020B0604020202020204" pitchFamily="34" charset="0"/>
                <a:sym typeface="Urbanist Medium"/>
              </a:rPr>
              <a:t> del </a:t>
            </a:r>
            <a:r>
              <a:rPr lang="en-US" sz="2400" b="0" i="0" u="none" strike="noStrike" cap="none" dirty="0" err="1">
                <a:solidFill>
                  <a:srgbClr val="84CC15"/>
                </a:solidFill>
                <a:latin typeface="Arial" panose="020B0604020202020204" pitchFamily="34" charset="0"/>
                <a:ea typeface="Urbanist Medium"/>
                <a:cs typeface="Arial" panose="020B0604020202020204" pitchFamily="34" charset="0"/>
                <a:sym typeface="Urbanist Medium"/>
              </a:rPr>
              <a:t>beneficio</a:t>
            </a:r>
            <a:endParaRPr dirty="0">
              <a:solidFill>
                <a:srgbClr val="84CC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Google Shape;176;p20">
            <a:extLst>
              <a:ext uri="{FF2B5EF4-FFF2-40B4-BE49-F238E27FC236}">
                <a16:creationId xmlns:a16="http://schemas.microsoft.com/office/drawing/2014/main" id="{1DB51FC5-0DF4-3433-6D2D-DDE6441E174D}"/>
              </a:ext>
            </a:extLst>
          </p:cNvPr>
          <p:cNvSpPr txBox="1"/>
          <p:nvPr/>
        </p:nvSpPr>
        <p:spPr>
          <a:xfrm>
            <a:off x="5909228" y="5593714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Nos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asegura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0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una</a:t>
            </a:r>
            <a:r>
              <a:rPr lang="en-US" sz="1600" b="0" i="0" u="none" strike="noStrike" cap="none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1" i="0" u="none" strike="noStrike" cap="none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ocupación</a:t>
            </a:r>
            <a:r>
              <a:rPr lang="en-US" sz="1600" b="1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alrededor</a:t>
            </a:r>
            <a:r>
              <a:rPr lang="en-US" sz="1600" b="1" dirty="0">
                <a:latin typeface="Arial" panose="020B0604020202020204" pitchFamily="34" charset="0"/>
                <a:ea typeface="Urbanist"/>
                <a:cs typeface="Arial" panose="020B0604020202020204" pitchFamily="34" charset="0"/>
                <a:sym typeface="Urbanist"/>
              </a:rPr>
              <a:t> del 90%.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4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EBE56-A76D-1D17-C578-E365666F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A83ED-CECE-E4B4-A68A-2A83839CE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1D213-770E-8AE4-21C9-4CAF1BE77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974737-398D-7E1B-511E-BD7F58CBAC3D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" sz="3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A2227-2516-0142-B982-15415755F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B78157-7C0C-5A07-7449-E56899419BEF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BF3D01-4E3D-49B1-F85B-C7F78D94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Marcador de contenido 2">
            <a:extLst>
              <a:ext uri="{FF2B5EF4-FFF2-40B4-BE49-F238E27FC236}">
                <a16:creationId xmlns:a16="http://schemas.microsoft.com/office/drawing/2014/main" id="{8A02CD26-A314-44F7-EE66-772195E56B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6677376"/>
              </p:ext>
            </p:extLst>
          </p:nvPr>
        </p:nvGraphicFramePr>
        <p:xfrm>
          <a:off x="905124" y="203361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91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97AB3-3C2E-DCE9-A358-0F668B11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F65E8E-999F-1515-9404-4A5F7B73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04084-BC12-9775-9588-1383AE30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E70D2D-FF6F-B787-8A07-6B95BB35E648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PRÓXIMOS PASOS</a:t>
            </a:r>
            <a:endParaRPr lang="es-ES" sz="3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C8312-A042-99B9-EC18-CF3BD046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2DD1DB-492E-BCC1-43CA-5043356DA302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A1AE76-E9EB-3FC6-7301-5150DB1B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Marcador de contenido 2">
            <a:extLst>
              <a:ext uri="{FF2B5EF4-FFF2-40B4-BE49-F238E27FC236}">
                <a16:creationId xmlns:a16="http://schemas.microsoft.com/office/drawing/2014/main" id="{88716A6E-4DA0-3DE1-BDBF-3338AEDD7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347249"/>
              </p:ext>
            </p:extLst>
          </p:nvPr>
        </p:nvGraphicFramePr>
        <p:xfrm>
          <a:off x="905124" y="186848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81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651C6-D62C-756C-F07D-886D25B6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2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9AC2EE-F7DB-EC5D-16B0-B2C5AEB865B4}"/>
              </a:ext>
            </a:extLst>
          </p:cNvPr>
          <p:cNvSpPr txBox="1"/>
          <p:nvPr/>
        </p:nvSpPr>
        <p:spPr>
          <a:xfrm>
            <a:off x="4162567" y="818984"/>
            <a:ext cx="7541753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 err="1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Preguntas</a:t>
            </a:r>
            <a:r>
              <a:rPr lang="en-US" sz="4800" b="1" kern="120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 </a:t>
            </a:r>
            <a:r>
              <a:rPr lang="en-US" sz="4800" b="1" kern="1200" dirty="0" err="1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sugerencias</a:t>
            </a:r>
            <a:endParaRPr lang="en-US" sz="4800" b="1" kern="120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5044B-B072-56B6-5455-B138C44B4CA0}"/>
              </a:ext>
            </a:extLst>
          </p:cNvPr>
          <p:cNvSpPr txBox="1"/>
          <p:nvPr/>
        </p:nvSpPr>
        <p:spPr>
          <a:xfrm>
            <a:off x="4285397" y="4960961"/>
            <a:ext cx="7055893" cy="1078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atención</a:t>
            </a:r>
            <a:endParaRPr lang="en-US" sz="2400" kern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B0B394B-6BAE-DABC-5ADF-195D5F98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0BACD09-16EE-EF4D-A1F4-B2B2CECA11F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95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11710</TotalTime>
  <Words>1053</Words>
  <Application>Microsoft Macintosh PowerPoint</Application>
  <PresentationFormat>Panorámica</PresentationFormat>
  <Paragraphs>137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Lato</vt:lpstr>
      <vt:lpstr>Lato Light</vt:lpstr>
      <vt:lpstr>Nunito</vt:lpstr>
      <vt:lpstr>Wingdings</vt:lpstr>
      <vt:lpstr>Tema de Office</vt:lpstr>
      <vt:lpstr>Modelos predictivos en cancelaciones hoteleras</vt:lpstr>
      <vt:lpstr>RESUMEN EJECUTIVO</vt:lpstr>
      <vt:lpstr>AGENDA</vt:lpstr>
      <vt:lpstr>PREPARACIÓN DE LOS DATOS PARA MEJORAR LA CAPACIDAD PREDICTIVA</vt:lpstr>
      <vt:lpstr>ENTRENAMOS Y VALIDAMOS MODELOS PARA GARANTIZAR PRECISIÓN </vt:lpstr>
      <vt:lpstr>COMPARATIVA Y SELECCIÓN DE MODELOS PRIORIZANDO ESTABILIDAD FRENTE A PRECISIÓN TEÓRICA</vt:lpstr>
      <vt:lpstr>MODELO ELEGIDO CON MEJOR CAPACIDAD DE GENERALIZACIÓN </vt:lpstr>
      <vt:lpstr>IDENTIFICACIÓN DE LOS FACTORES CLAVE DEL COMPORTAMIENTO DEL CLIENTE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Anais Nájar Martínez</dc:creator>
  <cp:lastModifiedBy>Anais Nájar Martínez</cp:lastModifiedBy>
  <cp:revision>63</cp:revision>
  <dcterms:created xsi:type="dcterms:W3CDTF">2026-02-28T10:30:30Z</dcterms:created>
  <dcterms:modified xsi:type="dcterms:W3CDTF">2026-05-14T10:31:46Z</dcterms:modified>
</cp:coreProperties>
</file>